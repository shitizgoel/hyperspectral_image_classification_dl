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3"/>
  </p:notesMasterIdLst>
  <p:sldIdLst>
    <p:sldId id="262" r:id="rId2"/>
    <p:sldId id="295" r:id="rId3"/>
    <p:sldId id="312" r:id="rId4"/>
    <p:sldId id="268" r:id="rId5"/>
    <p:sldId id="271" r:id="rId6"/>
    <p:sldId id="313" r:id="rId7"/>
    <p:sldId id="292" r:id="rId8"/>
    <p:sldId id="316" r:id="rId9"/>
    <p:sldId id="302" r:id="rId10"/>
    <p:sldId id="304" r:id="rId11"/>
    <p:sldId id="305" r:id="rId12"/>
    <p:sldId id="297" r:id="rId13"/>
    <p:sldId id="314" r:id="rId14"/>
    <p:sldId id="298" r:id="rId15"/>
    <p:sldId id="309" r:id="rId16"/>
    <p:sldId id="310" r:id="rId17"/>
    <p:sldId id="307" r:id="rId18"/>
    <p:sldId id="308" r:id="rId19"/>
    <p:sldId id="299" r:id="rId20"/>
    <p:sldId id="306" r:id="rId21"/>
    <p:sldId id="289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35413-CEBF-4C6F-9E01-37D6AAEE75B6}" v="95" dt="2024-04-18T00:45:36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5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2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01/05/26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5/1/26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746795" y="1376794"/>
            <a:ext cx="7650410" cy="1035102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dirty="0"/>
              <a:t>Bulk Wheat Seeds Classification using</a:t>
            </a:r>
            <a:br>
              <a:rPr lang="en-US" dirty="0"/>
            </a:br>
            <a:r>
              <a:rPr lang="en-US" dirty="0"/>
              <a:t>Hyperspectral Imaging and 3D-CNN’s</a:t>
            </a:r>
            <a:endParaRPr lang="en-IN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787558" y="4003505"/>
            <a:ext cx="3038654" cy="83815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u="sng" dirty="0"/>
              <a:t>Supervisor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Prof. R. Balasubramanian</a:t>
            </a:r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98694E9F-2E9C-FF4E-43EF-1B6179A84DA3}"/>
              </a:ext>
            </a:extLst>
          </p:cNvPr>
          <p:cNvSpPr/>
          <p:nvPr/>
        </p:nvSpPr>
        <p:spPr>
          <a:xfrm rot="5967425">
            <a:off x="114322" y="843744"/>
            <a:ext cx="249388" cy="235379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E263B1E-5316-D208-8223-D3B55955B00D}"/>
              </a:ext>
            </a:extLst>
          </p:cNvPr>
          <p:cNvSpPr txBox="1">
            <a:spLocks/>
          </p:cNvSpPr>
          <p:nvPr/>
        </p:nvSpPr>
        <p:spPr bwMode="auto">
          <a:xfrm>
            <a:off x="5497641" y="4000491"/>
            <a:ext cx="2779289" cy="8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Student</a:t>
            </a:r>
          </a:p>
          <a:p>
            <a:r>
              <a:rPr lang="en-US" dirty="0"/>
              <a:t>Shitiz Goel (23566013)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6A642-2CEA-1BBF-D523-E9611968B9FA}"/>
              </a:ext>
            </a:extLst>
          </p:cNvPr>
          <p:cNvSpPr txBox="1"/>
          <p:nvPr/>
        </p:nvSpPr>
        <p:spPr>
          <a:xfrm>
            <a:off x="2557753" y="2989243"/>
            <a:ext cx="40284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/>
              <a:t>M.Tech. Thesis </a:t>
            </a:r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B1F7BFA2-779A-AF30-82B5-85E0D1914391}"/>
              </a:ext>
            </a:extLst>
          </p:cNvPr>
          <p:cNvSpPr/>
          <p:nvPr/>
        </p:nvSpPr>
        <p:spPr>
          <a:xfrm rot="9577243">
            <a:off x="8710812" y="843743"/>
            <a:ext cx="249388" cy="235379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9288C-8CC3-AD34-5E9D-467582F8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36C0-CFF9-A96F-714A-269AA23D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2843-880B-B568-82B0-21958FDAA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608" y="1447521"/>
            <a:ext cx="4044706" cy="4862870"/>
          </a:xfrm>
        </p:spPr>
        <p:txBody>
          <a:bodyPr/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IN" b="1" dirty="0"/>
              <a:t>Introduction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Introduction to Hyperspectral Images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Problem Statement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IN" b="1" dirty="0"/>
              <a:t>Data Preparation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Dataset Overview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Data Preparation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IN" b="1" dirty="0"/>
              <a:t>3D CNN Models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Introduction to 3D CNN’s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3D ConvNeXt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4EB78-F95D-E645-3E62-9F48BAF692D2}"/>
              </a:ext>
            </a:extLst>
          </p:cNvPr>
          <p:cNvSpPr txBox="1"/>
          <p:nvPr/>
        </p:nvSpPr>
        <p:spPr>
          <a:xfrm>
            <a:off x="4958861" y="1447521"/>
            <a:ext cx="398584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3D DenseNet Model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3D ResNet Model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4.   Band Selection Techniques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BSNet-Conv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DARecNet-BS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TAMSRecNet</a:t>
            </a:r>
          </a:p>
          <a:p>
            <a:pPr marL="571500" lvl="1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SBAN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5.    References</a:t>
            </a: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E37EE6-5471-16BD-CA37-AE00DDEB8E16}"/>
              </a:ext>
            </a:extLst>
          </p:cNvPr>
          <p:cNvCxnSpPr>
            <a:cxnSpLocks/>
          </p:cNvCxnSpPr>
          <p:nvPr/>
        </p:nvCxnSpPr>
        <p:spPr>
          <a:xfrm>
            <a:off x="4572000" y="1432559"/>
            <a:ext cx="0" cy="473377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87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F872-D115-B3FD-62E8-F4457642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AFCA0-03F7-3DC2-8DCF-7AED7AED3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7931" y="2949192"/>
            <a:ext cx="8768137" cy="959616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b="1" u="sng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45356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56375E-DA19-E814-429D-9793CB39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Hyperspectral Images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D44CEE-0486-9ED3-9710-DA6A51D14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32" y="1041463"/>
            <a:ext cx="8976596" cy="2920937"/>
          </a:xfrm>
        </p:spPr>
        <p:txBody>
          <a:bodyPr/>
          <a:lstStyle/>
          <a:p>
            <a:pPr algn="just"/>
            <a:r>
              <a:rPr lang="en-US" sz="2100" dirty="0">
                <a:latin typeface="+mj-lt"/>
              </a:rPr>
              <a:t>A hyperspectral image is a type of digital image that captures the light reflected from objects across a wide range of wavelengths (Typically in the Visible Light &amp; Near-Infrared Spectrum i.e. 400-1100 nm).</a:t>
            </a:r>
          </a:p>
          <a:p>
            <a:pPr algn="just"/>
            <a:r>
              <a:rPr lang="en-US" sz="2100" dirty="0">
                <a:latin typeface="+mj-lt"/>
              </a:rPr>
              <a:t>It is generally visualized as a 3D cube, with </a:t>
            </a:r>
            <a:r>
              <a:rPr lang="en-US" sz="2100" b="1" dirty="0">
                <a:latin typeface="+mj-lt"/>
              </a:rPr>
              <a:t>two spatial dimensions (x, y) and one spectral dimension (wavelength or</a:t>
            </a:r>
            <a:r>
              <a:rPr lang="el-GR" sz="2100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+mj-lt"/>
              </a:rPr>
              <a:t> </a:t>
            </a:r>
            <a:r>
              <a:rPr lang="el-GR" sz="2100" b="1" i="1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+mj-lt"/>
              </a:rPr>
              <a:t>λ</a:t>
            </a:r>
            <a:r>
              <a:rPr lang="en-US" sz="2100" b="1" dirty="0">
                <a:latin typeface="+mj-lt"/>
              </a:rPr>
              <a:t>)</a:t>
            </a:r>
            <a:r>
              <a:rPr lang="en-US" sz="2100" dirty="0">
                <a:latin typeface="+mj-lt"/>
              </a:rPr>
              <a:t>. </a:t>
            </a:r>
            <a:endParaRPr lang="en-IN" sz="2100" dirty="0">
              <a:latin typeface="+mj-lt"/>
            </a:endParaRPr>
          </a:p>
          <a:p>
            <a:pPr algn="just"/>
            <a:r>
              <a:rPr lang="en-IN" sz="2100" dirty="0">
                <a:latin typeface="+mj-lt"/>
              </a:rPr>
              <a:t>It contains hundreds of channels per image usually known as </a:t>
            </a:r>
            <a:r>
              <a:rPr lang="en-IN" sz="2100" b="1" dirty="0">
                <a:latin typeface="+mj-lt"/>
              </a:rPr>
              <a:t>spectral bands</a:t>
            </a:r>
            <a:r>
              <a:rPr lang="en-IN" sz="2100" dirty="0">
                <a:latin typeface="+mj-lt"/>
              </a:rPr>
              <a:t>.</a:t>
            </a:r>
          </a:p>
          <a:p>
            <a:pPr algn="just"/>
            <a:r>
              <a:rPr lang="en-IN" sz="2100" dirty="0">
                <a:latin typeface="+mj-lt"/>
              </a:rPr>
              <a:t>The spectra of each object is unique like our </a:t>
            </a:r>
            <a:r>
              <a:rPr lang="en-IN" sz="2100" b="1" dirty="0">
                <a:latin typeface="+mj-lt"/>
              </a:rPr>
              <a:t>fingerprints</a:t>
            </a:r>
            <a:r>
              <a:rPr lang="en-IN" sz="2100" dirty="0">
                <a:latin typeface="+mj-lt"/>
              </a:rPr>
              <a:t> which is the key reason for using hyperspectral images. E.g. Real vs Artificial Gold.</a:t>
            </a:r>
          </a:p>
          <a:p>
            <a:pPr algn="just"/>
            <a:endParaRPr lang="en-IN" sz="21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A8B14-7244-F9B1-4DCF-1EA04E01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2" y="3922644"/>
            <a:ext cx="8841638" cy="24267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79A1AD-692F-DD8B-F160-DE07D3D8B754}"/>
              </a:ext>
            </a:extLst>
          </p:cNvPr>
          <p:cNvSpPr txBox="1"/>
          <p:nvPr/>
        </p:nvSpPr>
        <p:spPr>
          <a:xfrm>
            <a:off x="2631440" y="6364759"/>
            <a:ext cx="4856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 – A Hyperspectral Image visualized as 3D Cube [10a]</a:t>
            </a:r>
          </a:p>
        </p:txBody>
      </p:sp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76B4-E548-8DDC-5316-0E78E45E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1C199-F8F4-8DC7-E468-549CD78DB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653" y="1319425"/>
            <a:ext cx="8768137" cy="1463199"/>
          </a:xfr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en-IN" sz="2800" b="1" u="sng" dirty="0">
                <a:latin typeface="+mj-lt"/>
              </a:rPr>
              <a:t>Problem Statement</a:t>
            </a:r>
            <a:r>
              <a:rPr lang="en-IN" sz="2800" dirty="0">
                <a:latin typeface="+mj-lt"/>
              </a:rPr>
              <a:t> - Classification of a large variety of seeds of any particular crop like rice, wheat, maize etc. using Hyperspectral Imaging and 3D CNN’s. </a:t>
            </a:r>
          </a:p>
        </p:txBody>
      </p:sp>
      <p:pic>
        <p:nvPicPr>
          <p:cNvPr id="1028" name="Picture 4" descr="Dried Agriculture Wheat Seeds, 0.5 ...">
            <a:extLst>
              <a:ext uri="{FF2B5EF4-FFF2-40B4-BE49-F238E27FC236}">
                <a16:creationId xmlns:a16="http://schemas.microsoft.com/office/drawing/2014/main" id="{E7D573F1-0C56-6ECD-ABBF-DF1EA50B6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26"/>
          <a:stretch/>
        </p:blipFill>
        <p:spPr bwMode="auto">
          <a:xfrm>
            <a:off x="3273503" y="3275635"/>
            <a:ext cx="2582435" cy="173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Yellow Maize Seeds, High in Protein at ...">
            <a:extLst>
              <a:ext uri="{FF2B5EF4-FFF2-40B4-BE49-F238E27FC236}">
                <a16:creationId xmlns:a16="http://schemas.microsoft.com/office/drawing/2014/main" id="{626FA49B-9AE1-1D10-4023-BC9ABAF98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11" b="11198"/>
          <a:stretch/>
        </p:blipFill>
        <p:spPr bwMode="auto">
          <a:xfrm>
            <a:off x="6288186" y="3275635"/>
            <a:ext cx="2582435" cy="173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rown Rice Paddy Seeds – Vintage Farmers">
            <a:extLst>
              <a:ext uri="{FF2B5EF4-FFF2-40B4-BE49-F238E27FC236}">
                <a16:creationId xmlns:a16="http://schemas.microsoft.com/office/drawing/2014/main" id="{80B41A59-23FD-E647-2ECF-5332DBC6F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09"/>
          <a:stretch/>
        </p:blipFill>
        <p:spPr bwMode="auto">
          <a:xfrm>
            <a:off x="258820" y="3275634"/>
            <a:ext cx="2582435" cy="173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A924E8-2FC8-26A8-C4C2-C20E985AB9CF}"/>
              </a:ext>
            </a:extLst>
          </p:cNvPr>
          <p:cNvSpPr txBox="1"/>
          <p:nvPr/>
        </p:nvSpPr>
        <p:spPr>
          <a:xfrm>
            <a:off x="752354" y="511601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Rice Seeds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F305EA-3BF2-47B6-5BFE-C13A370B0F7E}"/>
              </a:ext>
            </a:extLst>
          </p:cNvPr>
          <p:cNvSpPr txBox="1"/>
          <p:nvPr/>
        </p:nvSpPr>
        <p:spPr>
          <a:xfrm>
            <a:off x="3855553" y="5116010"/>
            <a:ext cx="14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Wheat Seeds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762B6-F05E-A099-E657-532FD84BDB94}"/>
              </a:ext>
            </a:extLst>
          </p:cNvPr>
          <p:cNvSpPr txBox="1"/>
          <p:nvPr/>
        </p:nvSpPr>
        <p:spPr>
          <a:xfrm>
            <a:off x="6896106" y="5116010"/>
            <a:ext cx="1366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Maize Seeds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2AE07-F003-7B44-3812-87132A313ACB}"/>
              </a:ext>
            </a:extLst>
          </p:cNvPr>
          <p:cNvSpPr/>
          <p:nvPr/>
        </p:nvSpPr>
        <p:spPr>
          <a:xfrm>
            <a:off x="180653" y="3200400"/>
            <a:ext cx="8768137" cy="2284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F5E82-C673-5608-5C20-ECEA977AB43A}"/>
              </a:ext>
            </a:extLst>
          </p:cNvPr>
          <p:cNvSpPr txBox="1"/>
          <p:nvPr/>
        </p:nvSpPr>
        <p:spPr>
          <a:xfrm>
            <a:off x="3048000" y="5595341"/>
            <a:ext cx="3495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2 – The seeds of different crops [10b]</a:t>
            </a:r>
          </a:p>
        </p:txBody>
      </p:sp>
    </p:spTree>
    <p:extLst>
      <p:ext uri="{BB962C8B-B14F-4D97-AF65-F5344CB8AC3E}">
        <p14:creationId xmlns:p14="http://schemas.microsoft.com/office/powerpoint/2010/main" val="29073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B651-6B77-D445-64D0-83236982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BF9B-52B9-68B2-EE02-D73533E6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C8D57-A1B5-45CA-5890-74758799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7931" y="2949192"/>
            <a:ext cx="8768137" cy="959616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b="1" u="sng" dirty="0"/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40161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76B4-E548-8DDC-5316-0E78E45E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034C6-EBEC-0C1A-D301-1C9307D9AC02}"/>
              </a:ext>
            </a:extLst>
          </p:cNvPr>
          <p:cNvSpPr txBox="1"/>
          <p:nvPr/>
        </p:nvSpPr>
        <p:spPr>
          <a:xfrm>
            <a:off x="330911" y="1391570"/>
            <a:ext cx="3995561" cy="48936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/>
              <a:t>Dataset Description</a:t>
            </a:r>
            <a:r>
              <a:rPr lang="en-IN" sz="2400" dirty="0"/>
              <a:t> </a:t>
            </a:r>
          </a:p>
          <a:p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dataset contains </a:t>
            </a:r>
            <a:r>
              <a:rPr lang="en-IN" sz="2400" b="1" dirty="0"/>
              <a:t>50 varieties</a:t>
            </a:r>
            <a:r>
              <a:rPr lang="en-IN" sz="2400" dirty="0"/>
              <a:t> of wheat seeds.</a:t>
            </a:r>
          </a:p>
          <a:p>
            <a:pPr algn="just"/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For each variety, we have two hyperspectral images having dimensions </a:t>
            </a:r>
            <a:r>
              <a:rPr lang="en-IN" sz="2400" b="1" dirty="0"/>
              <a:t>850 x 320 x 168</a:t>
            </a:r>
            <a:r>
              <a:rPr lang="en-IN" sz="2400" dirty="0"/>
              <a:t> as shown in Fig 3. </a:t>
            </a:r>
          </a:p>
          <a:p>
            <a:pPr algn="just"/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Each image has 3 circular regions of bulk wheat seeds.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D1F612D-E855-C196-C447-FA0A2596E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423" y="1914774"/>
            <a:ext cx="1857375" cy="4143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35B37EA-D1F0-18B7-6DA7-642E9D7A0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642" y="1914773"/>
            <a:ext cx="1857375" cy="4143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ABA188-F08D-299D-36D7-B8B95B491FF2}"/>
              </a:ext>
            </a:extLst>
          </p:cNvPr>
          <p:cNvSpPr txBox="1"/>
          <p:nvPr/>
        </p:nvSpPr>
        <p:spPr>
          <a:xfrm>
            <a:off x="5109284" y="6068308"/>
            <a:ext cx="3438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Figure 3 - Two Hyperspectral Images of one wheat variety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E23388-6335-7BE1-D330-DB270368DAA6}"/>
              </a:ext>
            </a:extLst>
          </p:cNvPr>
          <p:cNvSpPr txBox="1"/>
          <p:nvPr/>
        </p:nvSpPr>
        <p:spPr>
          <a:xfrm>
            <a:off x="5767076" y="1041373"/>
            <a:ext cx="21232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Wheat Variety</a:t>
            </a:r>
            <a:r>
              <a:rPr lang="en-IN" sz="2400" b="1" dirty="0"/>
              <a:t>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RAJ3765_K_22</a:t>
            </a:r>
          </a:p>
        </p:txBody>
      </p:sp>
    </p:spTree>
    <p:extLst>
      <p:ext uri="{BB962C8B-B14F-4D97-AF65-F5344CB8AC3E}">
        <p14:creationId xmlns:p14="http://schemas.microsoft.com/office/powerpoint/2010/main" val="3117407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07F22-AD73-67C3-6282-4DA764F5E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507" y="1132556"/>
            <a:ext cx="8874125" cy="2296444"/>
          </a:xfr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en-US" sz="1800" b="1" dirty="0"/>
              <a:t>1. Extraction of Seed Region Boundaries</a:t>
            </a:r>
          </a:p>
          <a:p>
            <a:pPr algn="just"/>
            <a:r>
              <a:rPr lang="en-US" sz="1800" dirty="0"/>
              <a:t>Removed first 14 and last 7 noisy bands to get 147 spectral bands from 168.</a:t>
            </a:r>
          </a:p>
          <a:p>
            <a:pPr algn="just"/>
            <a:r>
              <a:rPr lang="en-US" sz="1800" dirty="0"/>
              <a:t>Selected a single band (Band-60) and obtained corresponding binary image using Otsu Thresholding technique.</a:t>
            </a:r>
          </a:p>
          <a:p>
            <a:pPr algn="just"/>
            <a:r>
              <a:rPr lang="en-US" sz="1800" dirty="0"/>
              <a:t>Applied Morphological Closing Operation to fill up the small holes in binary image.</a:t>
            </a:r>
          </a:p>
          <a:p>
            <a:pPr algn="just"/>
            <a:r>
              <a:rPr lang="en-US" sz="1800" dirty="0"/>
              <a:t>Filled the remaining big holes to figure out the seed regions clearly.</a:t>
            </a:r>
          </a:p>
          <a:p>
            <a:pPr algn="just"/>
            <a:r>
              <a:rPr lang="en-US" sz="1800" dirty="0"/>
              <a:t>Extracted the region centers and dimensions to obtain final boundary boxes.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0DED2A-2DE8-FCF2-64CF-9274E099D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A diagram of a virus&#10;&#10;AI-generated content may be incorrect.">
            <a:extLst>
              <a:ext uri="{FF2B5EF4-FFF2-40B4-BE49-F238E27FC236}">
                <a16:creationId xmlns:a16="http://schemas.microsoft.com/office/drawing/2014/main" id="{0ED617C9-4E8D-0079-932E-5E8ED4C2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68" y="3505208"/>
            <a:ext cx="8837264" cy="284124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B5C4E5A-8F01-1A1B-6E4A-DA418A02A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2298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912DA3-4C8C-033D-0614-1E688520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/>
          <a:p>
            <a:r>
              <a:rPr lang="en-IN" dirty="0"/>
              <a:t>Data Preparation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DD99E1-F452-80BE-AF8F-8FC29921E7A0}"/>
              </a:ext>
            </a:extLst>
          </p:cNvPr>
          <p:cNvSpPr txBox="1"/>
          <p:nvPr/>
        </p:nvSpPr>
        <p:spPr>
          <a:xfrm>
            <a:off x="1066800" y="6356617"/>
            <a:ext cx="6638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Figure 4 - Steps involved in Circular Seed Regions Segmentation from each HSI Image</a:t>
            </a:r>
          </a:p>
        </p:txBody>
      </p:sp>
    </p:spTree>
    <p:extLst>
      <p:ext uri="{BB962C8B-B14F-4D97-AF65-F5344CB8AC3E}">
        <p14:creationId xmlns:p14="http://schemas.microsoft.com/office/powerpoint/2010/main" val="914058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18D19-C321-7D09-CD2D-6FF62A950160}"/>
              </a:ext>
            </a:extLst>
          </p:cNvPr>
          <p:cNvSpPr txBox="1"/>
          <p:nvPr/>
        </p:nvSpPr>
        <p:spPr>
          <a:xfrm>
            <a:off x="126237" y="1069855"/>
            <a:ext cx="8768137" cy="1061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/>
              <a:t>2. Separation of seed regions from the original image</a:t>
            </a:r>
            <a:endParaRPr lang="en-IN" sz="21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/>
              <a:t>The boundaries extracted in Step-1 are used to extract each seed region separately from the original hyperspectral image.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25EEF69-A614-A40C-9E89-7A08F04FE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76" y="2346926"/>
            <a:ext cx="2136658" cy="380112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1287855-A030-896C-99FB-D3BF4F21241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36" y="2187050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1676D1A8-C2D1-5FA9-97D2-E5E4E7B9E413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36" y="3682416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A2E58626-4790-4472-AB04-044D7D66E668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36" y="5177782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7C85C6-BEC5-724D-93F5-7F4E54787C28}"/>
              </a:ext>
            </a:extLst>
          </p:cNvPr>
          <p:cNvCxnSpPr>
            <a:cxnSpLocks/>
          </p:cNvCxnSpPr>
          <p:nvPr/>
        </p:nvCxnSpPr>
        <p:spPr>
          <a:xfrm flipV="1">
            <a:off x="1897039" y="2907050"/>
            <a:ext cx="1037230" cy="2865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8835B-D302-D721-E195-50CAEBA11402}"/>
              </a:ext>
            </a:extLst>
          </p:cNvPr>
          <p:cNvCxnSpPr>
            <a:cxnSpLocks/>
          </p:cNvCxnSpPr>
          <p:nvPr/>
        </p:nvCxnSpPr>
        <p:spPr>
          <a:xfrm>
            <a:off x="1837306" y="4253065"/>
            <a:ext cx="109696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4834EF-22C2-BBBA-AA6B-486F38677CF0}"/>
              </a:ext>
            </a:extLst>
          </p:cNvPr>
          <p:cNvCxnSpPr>
            <a:cxnSpLocks/>
          </p:cNvCxnSpPr>
          <p:nvPr/>
        </p:nvCxnSpPr>
        <p:spPr>
          <a:xfrm>
            <a:off x="1897039" y="5312555"/>
            <a:ext cx="1037230" cy="3785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0CB674D-B04C-9E84-1E9C-F7F91D566B67}"/>
              </a:ext>
            </a:extLst>
          </p:cNvPr>
          <p:cNvSpPr txBox="1"/>
          <p:nvPr/>
        </p:nvSpPr>
        <p:spPr>
          <a:xfrm>
            <a:off x="4708480" y="4134569"/>
            <a:ext cx="4283187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/>
              <a:t>3. Cropping of small and equal sized images from each region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From each region, </a:t>
            </a:r>
            <a:r>
              <a:rPr lang="en-IN" sz="2100" b="1" dirty="0"/>
              <a:t>17</a:t>
            </a:r>
            <a:r>
              <a:rPr lang="en-IN" sz="2100" dirty="0"/>
              <a:t> small images having dimensions </a:t>
            </a:r>
            <a:r>
              <a:rPr lang="en-IN" sz="2100" b="1" dirty="0"/>
              <a:t>56 x 56 x 147</a:t>
            </a:r>
            <a:r>
              <a:rPr lang="en-IN" sz="2100" dirty="0"/>
              <a:t> are cropped using procedure described in next slide.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DDC296-BBD4-75D0-4125-A4AA620E2B29}"/>
              </a:ext>
            </a:extLst>
          </p:cNvPr>
          <p:cNvCxnSpPr>
            <a:cxnSpLocks/>
          </p:cNvCxnSpPr>
          <p:nvPr/>
        </p:nvCxnSpPr>
        <p:spPr>
          <a:xfrm>
            <a:off x="4378067" y="2825770"/>
            <a:ext cx="3304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Picture 14">
            <a:extLst>
              <a:ext uri="{FF2B5EF4-FFF2-40B4-BE49-F238E27FC236}">
                <a16:creationId xmlns:a16="http://schemas.microsoft.com/office/drawing/2014/main" id="{E2794DC5-B0F6-8922-0604-740243DBB097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203" y="2356548"/>
            <a:ext cx="900000" cy="9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79E4271C-6756-F452-FC52-203CF73ECB4A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086" y="2356548"/>
            <a:ext cx="900000" cy="9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2136B3BD-6F4E-D2B2-CF5A-E6AADC26C5F7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572" y="2356548"/>
            <a:ext cx="900000" cy="9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>
            <a:extLst>
              <a:ext uri="{FF2B5EF4-FFF2-40B4-BE49-F238E27FC236}">
                <a16:creationId xmlns:a16="http://schemas.microsoft.com/office/drawing/2014/main" id="{7DF0F5F9-E3D3-CB5A-AE96-EF559B3144BC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505" y="2356548"/>
            <a:ext cx="900000" cy="9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AD626B-41AE-EB95-6FB6-10E047038E91}"/>
              </a:ext>
            </a:extLst>
          </p:cNvPr>
          <p:cNvSpPr txBox="1"/>
          <p:nvPr/>
        </p:nvSpPr>
        <p:spPr>
          <a:xfrm>
            <a:off x="5141608" y="3314987"/>
            <a:ext cx="3619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5b - </a:t>
            </a:r>
            <a:r>
              <a:rPr lang="en-IN" sz="1400" b="1" dirty="0"/>
              <a:t>56 x 56 x 147 sized cropped images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28BCC0-2715-499D-9493-6A30B8B886AC}"/>
              </a:ext>
            </a:extLst>
          </p:cNvPr>
          <p:cNvSpPr txBox="1"/>
          <p:nvPr/>
        </p:nvSpPr>
        <p:spPr>
          <a:xfrm>
            <a:off x="6693017" y="300610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……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D289BF9-FF00-8199-0F15-3E8ED2A3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03200"/>
            <a:ext cx="7042150" cy="554038"/>
          </a:xfrm>
        </p:spPr>
        <p:txBody>
          <a:bodyPr/>
          <a:lstStyle/>
          <a:p>
            <a:r>
              <a:rPr lang="en-IN" dirty="0"/>
              <a:t>Data Preparation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6C108-B374-D109-C4E8-A169879F6B5D}"/>
              </a:ext>
            </a:extLst>
          </p:cNvPr>
          <p:cNvSpPr txBox="1"/>
          <p:nvPr/>
        </p:nvSpPr>
        <p:spPr>
          <a:xfrm>
            <a:off x="0" y="6165894"/>
            <a:ext cx="3004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Figure 5a - Extraction of individual regions from the hyperspectral image. </a:t>
            </a:r>
          </a:p>
        </p:txBody>
      </p:sp>
    </p:spTree>
    <p:extLst>
      <p:ext uri="{BB962C8B-B14F-4D97-AF65-F5344CB8AC3E}">
        <p14:creationId xmlns:p14="http://schemas.microsoft.com/office/powerpoint/2010/main" val="408487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8">
            <a:extLst>
              <a:ext uri="{FF2B5EF4-FFF2-40B4-BE49-F238E27FC236}">
                <a16:creationId xmlns:a16="http://schemas.microsoft.com/office/drawing/2014/main" id="{CEE2136C-843C-1F8B-6F56-F1DC9A168DFD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8" b="2466"/>
          <a:stretch/>
        </p:blipFill>
        <p:spPr bwMode="auto">
          <a:xfrm>
            <a:off x="3298618" y="1173984"/>
            <a:ext cx="5691116" cy="52404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91693-F758-A5E5-7DF4-CB851BEA2ADE}"/>
              </a:ext>
            </a:extLst>
          </p:cNvPr>
          <p:cNvSpPr txBox="1"/>
          <p:nvPr/>
        </p:nvSpPr>
        <p:spPr>
          <a:xfrm>
            <a:off x="68240" y="1173984"/>
            <a:ext cx="3062464" cy="52629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100" b="1" dirty="0"/>
              <a:t>Procedure for extracting small images (56x56x147) from each region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/>
              <a:t>One central image is first cropped.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/>
              <a:t>Then, window is shifted by 18-18 units in each of NEWS directions 2 times.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/>
              <a:t>Finally, window is shifted by 11-11 units diagonally in each four directions 2 times.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/>
              <a:t>So, total (1+8+8) = 17 images are extracted from each region.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3F06A5-6241-D543-2C0A-84B7FA2E8B37}"/>
              </a:ext>
            </a:extLst>
          </p:cNvPr>
          <p:cNvCxnSpPr/>
          <p:nvPr/>
        </p:nvCxnSpPr>
        <p:spPr>
          <a:xfrm>
            <a:off x="4572000" y="3794078"/>
            <a:ext cx="378043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C85025-13AE-BCAA-6051-E1959CA5C51A}"/>
              </a:ext>
            </a:extLst>
          </p:cNvPr>
          <p:cNvCxnSpPr>
            <a:cxnSpLocks/>
          </p:cNvCxnSpPr>
          <p:nvPr/>
        </p:nvCxnSpPr>
        <p:spPr>
          <a:xfrm flipV="1">
            <a:off x="6346209" y="2129051"/>
            <a:ext cx="0" cy="3554965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940069-3A23-2791-FA72-8B901703560F}"/>
              </a:ext>
            </a:extLst>
          </p:cNvPr>
          <p:cNvCxnSpPr>
            <a:cxnSpLocks/>
          </p:cNvCxnSpPr>
          <p:nvPr/>
        </p:nvCxnSpPr>
        <p:spPr>
          <a:xfrm flipV="1">
            <a:off x="4749421" y="2347415"/>
            <a:ext cx="3343701" cy="2784143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EFD591-73B4-9EE5-E811-C4E4649F5707}"/>
              </a:ext>
            </a:extLst>
          </p:cNvPr>
          <p:cNvCxnSpPr>
            <a:cxnSpLocks/>
          </p:cNvCxnSpPr>
          <p:nvPr/>
        </p:nvCxnSpPr>
        <p:spPr>
          <a:xfrm>
            <a:off x="4901822" y="2499815"/>
            <a:ext cx="3191300" cy="2850107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630418D-6B02-B466-DB34-3BF5C4631252}"/>
              </a:ext>
            </a:extLst>
          </p:cNvPr>
          <p:cNvSpPr/>
          <p:nvPr/>
        </p:nvSpPr>
        <p:spPr>
          <a:xfrm>
            <a:off x="6241271" y="370407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6BF5B7-A11D-4F12-CCF7-EF5429DBDDD5}"/>
              </a:ext>
            </a:extLst>
          </p:cNvPr>
          <p:cNvSpPr/>
          <p:nvPr/>
        </p:nvSpPr>
        <p:spPr>
          <a:xfrm>
            <a:off x="6895074" y="370407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50E348-E593-5C63-7553-A676FCF5DAD9}"/>
              </a:ext>
            </a:extLst>
          </p:cNvPr>
          <p:cNvSpPr/>
          <p:nvPr/>
        </p:nvSpPr>
        <p:spPr>
          <a:xfrm>
            <a:off x="7525639" y="370407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4D356E-C05C-4EFB-17DF-C35E75555A81}"/>
              </a:ext>
            </a:extLst>
          </p:cNvPr>
          <p:cNvSpPr/>
          <p:nvPr/>
        </p:nvSpPr>
        <p:spPr>
          <a:xfrm>
            <a:off x="5587468" y="369042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34D7CB-7C2E-33EC-4680-42F45185752D}"/>
              </a:ext>
            </a:extLst>
          </p:cNvPr>
          <p:cNvSpPr/>
          <p:nvPr/>
        </p:nvSpPr>
        <p:spPr>
          <a:xfrm>
            <a:off x="4961791" y="370407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629A045-A27D-B102-27A4-1D62FC79B4CD}"/>
              </a:ext>
            </a:extLst>
          </p:cNvPr>
          <p:cNvSpPr/>
          <p:nvPr/>
        </p:nvSpPr>
        <p:spPr>
          <a:xfrm>
            <a:off x="6241271" y="318998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1E82C74-0A1F-0571-6310-90716A71AA53}"/>
              </a:ext>
            </a:extLst>
          </p:cNvPr>
          <p:cNvSpPr/>
          <p:nvPr/>
        </p:nvSpPr>
        <p:spPr>
          <a:xfrm>
            <a:off x="6245413" y="267510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A85519D-98A7-EE46-532B-E6DCF5F6C537}"/>
              </a:ext>
            </a:extLst>
          </p:cNvPr>
          <p:cNvSpPr/>
          <p:nvPr/>
        </p:nvSpPr>
        <p:spPr>
          <a:xfrm>
            <a:off x="6246534" y="421817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7CD5C7-83E3-73B6-DC7F-4A73A2AFC3E9}"/>
              </a:ext>
            </a:extLst>
          </p:cNvPr>
          <p:cNvSpPr/>
          <p:nvPr/>
        </p:nvSpPr>
        <p:spPr>
          <a:xfrm>
            <a:off x="6242409" y="477939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6428F53-1807-9F10-C9C2-05026E34B313}"/>
              </a:ext>
            </a:extLst>
          </p:cNvPr>
          <p:cNvSpPr/>
          <p:nvPr/>
        </p:nvSpPr>
        <p:spPr>
          <a:xfrm>
            <a:off x="6745127" y="328767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1EDB5F2-FE72-71C5-A211-1F8315054EBF}"/>
              </a:ext>
            </a:extLst>
          </p:cNvPr>
          <p:cNvSpPr/>
          <p:nvPr/>
        </p:nvSpPr>
        <p:spPr>
          <a:xfrm>
            <a:off x="7222734" y="290444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677D15-4BB5-ABDE-A322-DFE7848966F4}"/>
              </a:ext>
            </a:extLst>
          </p:cNvPr>
          <p:cNvSpPr/>
          <p:nvPr/>
        </p:nvSpPr>
        <p:spPr>
          <a:xfrm>
            <a:off x="5773115" y="327721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71F874-C89E-C80E-F5E7-4996439841AA}"/>
              </a:ext>
            </a:extLst>
          </p:cNvPr>
          <p:cNvSpPr/>
          <p:nvPr/>
        </p:nvSpPr>
        <p:spPr>
          <a:xfrm>
            <a:off x="5278889" y="285510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B2F92E7-81D0-DA07-97C8-E3CF9F3862EF}"/>
              </a:ext>
            </a:extLst>
          </p:cNvPr>
          <p:cNvSpPr/>
          <p:nvPr/>
        </p:nvSpPr>
        <p:spPr>
          <a:xfrm>
            <a:off x="5851757" y="404094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A59077-2A0B-8968-F295-9FFD8B4C18AD}"/>
              </a:ext>
            </a:extLst>
          </p:cNvPr>
          <p:cNvSpPr/>
          <p:nvPr/>
        </p:nvSpPr>
        <p:spPr>
          <a:xfrm>
            <a:off x="5363459" y="450067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DAF737-ECCE-CBAE-F196-DFAD1660F145}"/>
              </a:ext>
            </a:extLst>
          </p:cNvPr>
          <p:cNvSpPr/>
          <p:nvPr/>
        </p:nvSpPr>
        <p:spPr>
          <a:xfrm>
            <a:off x="6715074" y="413664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0A6B092-C5EC-B80B-D4E0-5613B34D38DB}"/>
              </a:ext>
            </a:extLst>
          </p:cNvPr>
          <p:cNvSpPr/>
          <p:nvPr/>
        </p:nvSpPr>
        <p:spPr>
          <a:xfrm>
            <a:off x="7222734" y="453110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7B3401F-9F0E-A44C-A5F2-22FF0CC15460}"/>
              </a:ext>
            </a:extLst>
          </p:cNvPr>
          <p:cNvCxnSpPr/>
          <p:nvPr/>
        </p:nvCxnSpPr>
        <p:spPr>
          <a:xfrm>
            <a:off x="7075074" y="3690429"/>
            <a:ext cx="45056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BCC729-CBB3-DB68-E7E6-F0A77CCFE572}"/>
              </a:ext>
            </a:extLst>
          </p:cNvPr>
          <p:cNvCxnSpPr>
            <a:cxnSpLocks/>
          </p:cNvCxnSpPr>
          <p:nvPr/>
        </p:nvCxnSpPr>
        <p:spPr>
          <a:xfrm flipV="1">
            <a:off x="6761427" y="2927583"/>
            <a:ext cx="403997" cy="307009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B48E0F-CF0A-E1AA-D3AE-23873FA5DB25}"/>
              </a:ext>
            </a:extLst>
          </p:cNvPr>
          <p:cNvSpPr txBox="1"/>
          <p:nvPr/>
        </p:nvSpPr>
        <p:spPr>
          <a:xfrm>
            <a:off x="7083212" y="33565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370061-6773-CE8A-A800-FA121A4F9C7B}"/>
              </a:ext>
            </a:extLst>
          </p:cNvPr>
          <p:cNvSpPr txBox="1"/>
          <p:nvPr/>
        </p:nvSpPr>
        <p:spPr>
          <a:xfrm>
            <a:off x="6651300" y="27723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881897-7A64-28D3-D384-2792C9BCC852}"/>
              </a:ext>
            </a:extLst>
          </p:cNvPr>
          <p:cNvSpPr txBox="1"/>
          <p:nvPr/>
        </p:nvSpPr>
        <p:spPr>
          <a:xfrm>
            <a:off x="6177733" y="1657385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1119F5-72B9-FD0E-A01D-E610A6AF80E7}"/>
              </a:ext>
            </a:extLst>
          </p:cNvPr>
          <p:cNvSpPr txBox="1"/>
          <p:nvPr/>
        </p:nvSpPr>
        <p:spPr>
          <a:xfrm>
            <a:off x="6168788" y="5562038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96F08A-7C0D-B94E-B70E-DC35A0CC2EA6}"/>
              </a:ext>
            </a:extLst>
          </p:cNvPr>
          <p:cNvSpPr txBox="1"/>
          <p:nvPr/>
        </p:nvSpPr>
        <p:spPr>
          <a:xfrm>
            <a:off x="8368386" y="3541172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6C1FFB-9715-BF24-FF97-4FA88886684D}"/>
              </a:ext>
            </a:extLst>
          </p:cNvPr>
          <p:cNvSpPr txBox="1"/>
          <p:nvPr/>
        </p:nvSpPr>
        <p:spPr>
          <a:xfrm>
            <a:off x="4222047" y="3527523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W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82B6F0FC-AEB1-7694-E252-9998D0C1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/>
          <a:p>
            <a:r>
              <a:rPr lang="en-IN" dirty="0"/>
              <a:t>Data Preparation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53366-973E-56CD-9206-D309FF6B74BB}"/>
              </a:ext>
            </a:extLst>
          </p:cNvPr>
          <p:cNvSpPr txBox="1"/>
          <p:nvPr/>
        </p:nvSpPr>
        <p:spPr>
          <a:xfrm>
            <a:off x="2954838" y="6392257"/>
            <a:ext cx="46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6 - </a:t>
            </a:r>
            <a:r>
              <a:rPr lang="en-IN" sz="1400" b="1" dirty="0"/>
              <a:t>Process to extract images from each circular region</a:t>
            </a:r>
          </a:p>
        </p:txBody>
      </p:sp>
    </p:spTree>
    <p:extLst>
      <p:ext uri="{BB962C8B-B14F-4D97-AF65-F5344CB8AC3E}">
        <p14:creationId xmlns:p14="http://schemas.microsoft.com/office/powerpoint/2010/main" val="4275348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8F41D7-8C6A-AD30-D80B-ECB121B710F8}"/>
              </a:ext>
            </a:extLst>
          </p:cNvPr>
          <p:cNvSpPr txBox="1"/>
          <p:nvPr/>
        </p:nvSpPr>
        <p:spPr>
          <a:xfrm>
            <a:off x="180653" y="1097784"/>
            <a:ext cx="8782694" cy="1061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/>
              <a:t>4. Data Augmentation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Each of the 56x56x147 sized images are subjected to Horizontal Flip, Vertical Flip and Rotation (+30 degree, -30 degree).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C273626-DE23-A353-3998-510191F49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2" b="4227"/>
          <a:stretch/>
        </p:blipFill>
        <p:spPr bwMode="auto">
          <a:xfrm>
            <a:off x="597618" y="2257303"/>
            <a:ext cx="1895342" cy="200692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DB6868D8-44CD-7E15-D7C9-AEFFC67D8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691" y="2206503"/>
            <a:ext cx="1914525" cy="200692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>
            <a:extLst>
              <a:ext uri="{FF2B5EF4-FFF2-40B4-BE49-F238E27FC236}">
                <a16:creationId xmlns:a16="http://schemas.microsoft.com/office/drawing/2014/main" id="{0700C963-C354-B51C-54A5-F178D81DF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691" y="4297884"/>
            <a:ext cx="1914525" cy="20955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>
            <a:extLst>
              <a:ext uri="{FF2B5EF4-FFF2-40B4-BE49-F238E27FC236}">
                <a16:creationId xmlns:a16="http://schemas.microsoft.com/office/drawing/2014/main" id="{A206B359-1AD4-E14D-53B8-79D529927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284" y="2206503"/>
            <a:ext cx="2483037" cy="19956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>
            <a:extLst>
              <a:ext uri="{FF2B5EF4-FFF2-40B4-BE49-F238E27FC236}">
                <a16:creationId xmlns:a16="http://schemas.microsoft.com/office/drawing/2014/main" id="{FD503AC4-70FA-71F6-EEE1-0A6D434E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283" y="4292176"/>
            <a:ext cx="2483037" cy="20955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273E58F-2119-4395-7E32-62CFC5AD82DE}"/>
              </a:ext>
            </a:extLst>
          </p:cNvPr>
          <p:cNvSpPr/>
          <p:nvPr/>
        </p:nvSpPr>
        <p:spPr>
          <a:xfrm>
            <a:off x="2717479" y="3080960"/>
            <a:ext cx="565144" cy="2466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2FBB9-9500-F526-722E-BDDF087F0D38}"/>
              </a:ext>
            </a:extLst>
          </p:cNvPr>
          <p:cNvSpPr txBox="1"/>
          <p:nvPr/>
        </p:nvSpPr>
        <p:spPr>
          <a:xfrm>
            <a:off x="69211" y="4485846"/>
            <a:ext cx="3344549" cy="2031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IN" sz="2100" b="1" dirty="0"/>
              <a:t>From each region, we get 17+(17x4) = 85 images.</a:t>
            </a:r>
          </a:p>
          <a:p>
            <a:pPr marL="342900" indent="-342900">
              <a:buFontTx/>
              <a:buChar char="-"/>
            </a:pPr>
            <a:r>
              <a:rPr lang="en-IN" sz="2100" b="1" dirty="0"/>
              <a:t>For each variety, we get 85x6 = 510 images.</a:t>
            </a:r>
          </a:p>
          <a:p>
            <a:pPr marL="342900" indent="-342900">
              <a:buFontTx/>
              <a:buChar char="-"/>
            </a:pPr>
            <a:r>
              <a:rPr lang="en-IN" sz="2100" b="1" dirty="0"/>
              <a:t>In total, 510x50 = 25,500 images.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B77630-B59B-4AD1-0B0A-78EE6155E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/>
          <a:p>
            <a:r>
              <a:rPr lang="en-IN" dirty="0"/>
              <a:t>Data Preparation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B2A49-71AB-1471-2385-18F339AFD517}"/>
              </a:ext>
            </a:extLst>
          </p:cNvPr>
          <p:cNvSpPr txBox="1"/>
          <p:nvPr/>
        </p:nvSpPr>
        <p:spPr>
          <a:xfrm>
            <a:off x="4643786" y="6374552"/>
            <a:ext cx="2568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7 – </a:t>
            </a:r>
            <a:r>
              <a:rPr lang="en-IN" sz="1400" b="1" dirty="0"/>
              <a:t>Augmented Images</a:t>
            </a:r>
          </a:p>
        </p:txBody>
      </p:sp>
    </p:spTree>
    <p:extLst>
      <p:ext uri="{BB962C8B-B14F-4D97-AF65-F5344CB8AC3E}">
        <p14:creationId xmlns:p14="http://schemas.microsoft.com/office/powerpoint/2010/main" val="390282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166EC61-04EB-E232-1773-B0D95ECDC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923" y="1914773"/>
            <a:ext cx="1857375" cy="4143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3CCEE388-6D50-B2B2-D5DF-08BC487A0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734" y="1914773"/>
            <a:ext cx="1857375" cy="4143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73F76F-CBF0-0AE7-7ABF-A400D0DB6A4D}"/>
              </a:ext>
            </a:extLst>
          </p:cNvPr>
          <p:cNvSpPr txBox="1"/>
          <p:nvPr/>
        </p:nvSpPr>
        <p:spPr>
          <a:xfrm>
            <a:off x="171924" y="1177141"/>
            <a:ext cx="3726317" cy="23544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/>
              <a:t>5. Train-Test-Validation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First 2 regions from each image are taken for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Last region from image-1 is taken for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Last region from image-2 is taken for testing.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17A13-13E2-8056-213C-9FD5CF10DF73}"/>
              </a:ext>
            </a:extLst>
          </p:cNvPr>
          <p:cNvSpPr txBox="1"/>
          <p:nvPr/>
        </p:nvSpPr>
        <p:spPr>
          <a:xfrm>
            <a:off x="6239062" y="3162300"/>
            <a:ext cx="6566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Train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68D0A-84D6-D588-A648-B82C4A2AA301}"/>
              </a:ext>
            </a:extLst>
          </p:cNvPr>
          <p:cNvSpPr txBox="1"/>
          <p:nvPr/>
        </p:nvSpPr>
        <p:spPr>
          <a:xfrm>
            <a:off x="5989300" y="4115964"/>
            <a:ext cx="115243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912FF-55F2-EB63-8C47-C4040F59C825}"/>
              </a:ext>
            </a:extLst>
          </p:cNvPr>
          <p:cNvSpPr txBox="1"/>
          <p:nvPr/>
        </p:nvSpPr>
        <p:spPr>
          <a:xfrm>
            <a:off x="6260533" y="5011962"/>
            <a:ext cx="56291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Test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7FF8D5-ED95-A428-63AF-4AC53055B86C}"/>
              </a:ext>
            </a:extLst>
          </p:cNvPr>
          <p:cNvCxnSpPr/>
          <p:nvPr/>
        </p:nvCxnSpPr>
        <p:spPr>
          <a:xfrm>
            <a:off x="5676900" y="2908300"/>
            <a:ext cx="536762" cy="1651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C00E44-B26D-48CF-EC94-06661D1E6CCA}"/>
              </a:ext>
            </a:extLst>
          </p:cNvPr>
          <p:cNvCxnSpPr>
            <a:cxnSpLocks/>
          </p:cNvCxnSpPr>
          <p:nvPr/>
        </p:nvCxnSpPr>
        <p:spPr>
          <a:xfrm flipV="1">
            <a:off x="5639917" y="3594682"/>
            <a:ext cx="573745" cy="1899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7DBF1B-ED4C-C5C5-F937-75BAB3C681A6}"/>
              </a:ext>
            </a:extLst>
          </p:cNvPr>
          <p:cNvCxnSpPr>
            <a:cxnSpLocks/>
          </p:cNvCxnSpPr>
          <p:nvPr/>
        </p:nvCxnSpPr>
        <p:spPr>
          <a:xfrm flipH="1" flipV="1">
            <a:off x="6917370" y="3594682"/>
            <a:ext cx="1007430" cy="2888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DB53FF-C959-34C1-91A7-DAFA579920A5}"/>
              </a:ext>
            </a:extLst>
          </p:cNvPr>
          <p:cNvCxnSpPr>
            <a:cxnSpLocks/>
          </p:cNvCxnSpPr>
          <p:nvPr/>
        </p:nvCxnSpPr>
        <p:spPr>
          <a:xfrm flipH="1">
            <a:off x="6955612" y="2871638"/>
            <a:ext cx="923777" cy="2684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0C2D63-8D82-BE95-D4F9-8FA1C479E041}"/>
              </a:ext>
            </a:extLst>
          </p:cNvPr>
          <p:cNvCxnSpPr>
            <a:cxnSpLocks/>
          </p:cNvCxnSpPr>
          <p:nvPr/>
        </p:nvCxnSpPr>
        <p:spPr>
          <a:xfrm flipV="1">
            <a:off x="5601675" y="4563390"/>
            <a:ext cx="573745" cy="1899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5ECFC4-E1F0-310F-0ACB-DB8BCE1094D9}"/>
              </a:ext>
            </a:extLst>
          </p:cNvPr>
          <p:cNvCxnSpPr>
            <a:cxnSpLocks/>
          </p:cNvCxnSpPr>
          <p:nvPr/>
        </p:nvCxnSpPr>
        <p:spPr>
          <a:xfrm flipH="1">
            <a:off x="6895717" y="4944821"/>
            <a:ext cx="1020353" cy="1919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D89DD77-400B-2C26-25E5-4DFC7C9A4FDE}"/>
              </a:ext>
            </a:extLst>
          </p:cNvPr>
          <p:cNvSpPr txBox="1"/>
          <p:nvPr/>
        </p:nvSpPr>
        <p:spPr>
          <a:xfrm>
            <a:off x="180654" y="4282641"/>
            <a:ext cx="3726317" cy="170816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100" b="1" dirty="0"/>
              <a:t>Total (56x56x147) Images after date preparation – 25,500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Train images – 17,000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Test images – 4,250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Validation images – 4,250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233921-E04C-1DB3-8C48-89357D070AAA}"/>
              </a:ext>
            </a:extLst>
          </p:cNvPr>
          <p:cNvSpPr txBox="1"/>
          <p:nvPr/>
        </p:nvSpPr>
        <p:spPr>
          <a:xfrm>
            <a:off x="5767076" y="1041373"/>
            <a:ext cx="21232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Train-Test Split</a:t>
            </a:r>
            <a:r>
              <a:rPr lang="en-IN" sz="2400" b="1" dirty="0"/>
              <a:t>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RAJ3765_K_22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A7ABCD-2CF9-3E96-715D-432DBD7A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/>
          <a:p>
            <a:r>
              <a:rPr lang="en-IN" dirty="0"/>
              <a:t>Data Preparation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47C64-CDAD-9B20-54BB-6FC196C5676B}"/>
              </a:ext>
            </a:extLst>
          </p:cNvPr>
          <p:cNvSpPr txBox="1"/>
          <p:nvPr/>
        </p:nvSpPr>
        <p:spPr>
          <a:xfrm>
            <a:off x="4624228" y="6100551"/>
            <a:ext cx="430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8 – </a:t>
            </a:r>
            <a:r>
              <a:rPr lang="en-IN" sz="1400" b="1" dirty="0"/>
              <a:t>Train Test and Validation Split for each variety</a:t>
            </a:r>
          </a:p>
        </p:txBody>
      </p:sp>
    </p:spTree>
    <p:extLst>
      <p:ext uri="{BB962C8B-B14F-4D97-AF65-F5344CB8AC3E}">
        <p14:creationId xmlns:p14="http://schemas.microsoft.com/office/powerpoint/2010/main" val="2214362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073E-8581-C0A2-BA44-BA2F3ADC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3655-4E90-8231-3357-85ABB1F5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12AB-D23F-4BFF-FA4A-17C0C36A0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7931" y="2949192"/>
            <a:ext cx="8768137" cy="959616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b="1" u="sng" dirty="0"/>
              <a:t>3D CNN Models</a:t>
            </a:r>
          </a:p>
        </p:txBody>
      </p:sp>
    </p:spTree>
    <p:extLst>
      <p:ext uri="{BB962C8B-B14F-4D97-AF65-F5344CB8AC3E}">
        <p14:creationId xmlns:p14="http://schemas.microsoft.com/office/powerpoint/2010/main" val="2100097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22A2-984C-4CAA-D334-4FE752D9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3D CNN’s</a:t>
            </a:r>
          </a:p>
        </p:txBody>
      </p:sp>
      <p:pic>
        <p:nvPicPr>
          <p:cNvPr id="1026" name="Picture 2" descr="2D and 3D convolution operations. Applying 2D convolution on an image (a) or multiple channels of image (b) results in an image. Applying 3D convolution on a video volume (c) or multiple channels of video volume (d) results in another volume.">
            <a:extLst>
              <a:ext uri="{FF2B5EF4-FFF2-40B4-BE49-F238E27FC236}">
                <a16:creationId xmlns:a16="http://schemas.microsoft.com/office/drawing/2014/main" id="{9D1FFC6D-9E11-EFF9-77E3-3D2393966E1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" t="4930" r="2464" b="5478"/>
          <a:stretch/>
        </p:blipFill>
        <p:spPr bwMode="auto">
          <a:xfrm>
            <a:off x="180654" y="2661618"/>
            <a:ext cx="8799573" cy="3712192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F15D4C-3F7C-4F81-525C-991A8FDBBD7C}"/>
              </a:ext>
            </a:extLst>
          </p:cNvPr>
          <p:cNvSpPr txBox="1"/>
          <p:nvPr/>
        </p:nvSpPr>
        <p:spPr>
          <a:xfrm>
            <a:off x="221599" y="973725"/>
            <a:ext cx="42564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u="sng" dirty="0"/>
              <a:t>2D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Here, each channel is 2D.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Convolutions in spatial (x-y) dimensions only.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Input can be 2D/3D. Output is 2D.</a:t>
            </a:r>
          </a:p>
          <a:p>
            <a:pPr marL="285750" indent="-285750">
              <a:buFontTx/>
              <a:buChar char="-"/>
            </a:pPr>
            <a:endParaRPr lang="en-IN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FC64F-12E3-FA41-6C32-CD0A253BBB54}"/>
              </a:ext>
            </a:extLst>
          </p:cNvPr>
          <p:cNvSpPr txBox="1"/>
          <p:nvPr/>
        </p:nvSpPr>
        <p:spPr>
          <a:xfrm>
            <a:off x="4856488" y="973724"/>
            <a:ext cx="42564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u="sng" dirty="0"/>
              <a:t>3D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Here, each channel is 3D.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Convolutions in spatial and spectral (x-y-z) dimensions.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Input can be 3D/4D. Output is 3D.</a:t>
            </a:r>
          </a:p>
          <a:p>
            <a:pPr marL="285750" indent="-285750">
              <a:buFontTx/>
              <a:buChar char="-"/>
            </a:pPr>
            <a:endParaRPr lang="en-IN" sz="21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61CD2C-D8DD-FD14-95CA-F78FE9B0560A}"/>
              </a:ext>
            </a:extLst>
          </p:cNvPr>
          <p:cNvCxnSpPr/>
          <p:nvPr/>
        </p:nvCxnSpPr>
        <p:spPr>
          <a:xfrm>
            <a:off x="4580440" y="1146412"/>
            <a:ext cx="0" cy="13784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42AAA0-E836-B2A4-EAB0-AC5C2AA8C2D1}"/>
              </a:ext>
            </a:extLst>
          </p:cNvPr>
          <p:cNvCxnSpPr>
            <a:cxnSpLocks/>
          </p:cNvCxnSpPr>
          <p:nvPr/>
        </p:nvCxnSpPr>
        <p:spPr>
          <a:xfrm>
            <a:off x="180654" y="4365314"/>
            <a:ext cx="8799573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28F339-2016-06EC-28EF-B81BDBADCE66}"/>
              </a:ext>
            </a:extLst>
          </p:cNvPr>
          <p:cNvSpPr txBox="1"/>
          <p:nvPr/>
        </p:nvSpPr>
        <p:spPr>
          <a:xfrm>
            <a:off x="2180492" y="6383970"/>
            <a:ext cx="5175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9 – 2D and 3D convolutions on single and multiple channels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887731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76A3-5150-AE2F-874E-464CB8A4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3D-ConvNeXt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C337D8-2761-2007-6199-DEBB42562C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4487257"/>
              </p:ext>
            </p:extLst>
          </p:nvPr>
        </p:nvGraphicFramePr>
        <p:xfrm>
          <a:off x="3490664" y="1147153"/>
          <a:ext cx="5561896" cy="5165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7976">
                  <a:extLst>
                    <a:ext uri="{9D8B030D-6E8A-4147-A177-3AD203B41FA5}">
                      <a16:colId xmlns:a16="http://schemas.microsoft.com/office/drawing/2014/main" val="6108118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0344367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19435386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96680066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1909546418"/>
                    </a:ext>
                  </a:extLst>
                </a:gridCol>
              </a:tblGrid>
              <a:tr h="4224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50" b="1" kern="100" dirty="0">
                          <a:effectLst/>
                        </a:rPr>
                        <a:t>ConvNeXt-T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</a:pPr>
                      <a:r>
                        <a:rPr lang="en-IN" sz="105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Original 2D- ConvNeXt-T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</a:pPr>
                      <a:r>
                        <a:rPr lang="en-IN" sz="105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Output size of 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</a:pPr>
                      <a:r>
                        <a:rPr lang="en-IN" sz="105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2D-ConvNeXt-T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</a:pPr>
                      <a:r>
                        <a:rPr lang="en-IN" sz="105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3D-ConvNeXt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</a:pPr>
                      <a:r>
                        <a:rPr lang="en-IN" sz="105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Output size of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</a:pPr>
                      <a:r>
                        <a:rPr lang="en-IN" sz="105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3D-ConvNeXt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26987"/>
                  </a:ext>
                </a:extLst>
              </a:tr>
              <a:tr h="17985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input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>
                          <a:effectLst/>
                        </a:rPr>
                        <a:t> 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224 x 224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>
                          <a:effectLst/>
                        </a:rPr>
                        <a:t> 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56 x 56 x 147 x 1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980055"/>
                  </a:ext>
                </a:extLst>
              </a:tr>
              <a:tr h="32466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stem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4×4, 96, stride 4, padding 0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56 x 56 x 96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4x4x4, </a:t>
                      </a:r>
                      <a:r>
                        <a:rPr lang="en-IN" sz="1000" b="1" kern="100" dirty="0">
                          <a:effectLst/>
                        </a:rPr>
                        <a:t>24</a:t>
                      </a:r>
                      <a:r>
                        <a:rPr lang="en-IN" sz="1000" kern="100" dirty="0">
                          <a:effectLst/>
                        </a:rPr>
                        <a:t>, </a:t>
                      </a:r>
                      <a:r>
                        <a:rPr lang="en-IN" sz="1000" b="1" kern="100" dirty="0">
                          <a:effectLst/>
                        </a:rPr>
                        <a:t>stride (4,2,2), padding 1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28 x 28 x 37 x 24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940000"/>
                  </a:ext>
                </a:extLst>
              </a:tr>
              <a:tr h="46947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res2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7, 96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384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96]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56 x 56 x 96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 x 7, </a:t>
                      </a:r>
                      <a:r>
                        <a:rPr lang="en-IN" sz="1000" b="1" kern="100" dirty="0">
                          <a:effectLst/>
                        </a:rPr>
                        <a:t>24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96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24</a:t>
                      </a:r>
                      <a:r>
                        <a:rPr lang="en-IN" sz="1000" kern="100" dirty="0">
                          <a:effectLst/>
                        </a:rPr>
                        <a:t>]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28 x 28 x 37 x 24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592281"/>
                  </a:ext>
                </a:extLst>
              </a:tr>
              <a:tr h="4091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ds3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2x2, 192, stride 2,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padding 0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3x3x3, 48,  stride 2, 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padding 1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028604"/>
                  </a:ext>
                </a:extLst>
              </a:tr>
              <a:tr h="46947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res3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7, 192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768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192]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28 x 28 x 192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 x 7, </a:t>
                      </a:r>
                      <a:r>
                        <a:rPr lang="en-IN" sz="1000" b="1" kern="100" dirty="0">
                          <a:effectLst/>
                        </a:rPr>
                        <a:t>48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192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48</a:t>
                      </a:r>
                      <a:r>
                        <a:rPr lang="en-IN" sz="1000" kern="100" dirty="0">
                          <a:effectLst/>
                        </a:rPr>
                        <a:t>]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14 x 14 x 19 x 48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39445"/>
                  </a:ext>
                </a:extLst>
              </a:tr>
              <a:tr h="4248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ds4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2x2, 384, stride 2,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padding 0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3x3x3, 96,  stride 2, 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padding 1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559138"/>
                  </a:ext>
                </a:extLst>
              </a:tr>
              <a:tr h="46947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res4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7, 384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1536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384] x 9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14 x 14 x 384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 x 7, </a:t>
                      </a:r>
                      <a:r>
                        <a:rPr lang="en-IN" sz="1000" b="1" kern="100" dirty="0">
                          <a:effectLst/>
                        </a:rPr>
                        <a:t>96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384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96</a:t>
                      </a:r>
                      <a:r>
                        <a:rPr lang="en-IN" sz="1000" kern="100" dirty="0">
                          <a:effectLst/>
                        </a:rPr>
                        <a:t>] x 9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7 x 7 x 10 x 96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707435"/>
                  </a:ext>
                </a:extLst>
              </a:tr>
              <a:tr h="40621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ds5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2x2, 768, stride 2,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padding 0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3x3x3, 192,  stride 2, 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padding 1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314995"/>
                  </a:ext>
                </a:extLst>
              </a:tr>
              <a:tr h="46947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res5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7, 768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3072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1, 768]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7 x 7 x 768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[d7 × 7 x 7, </a:t>
                      </a:r>
                      <a:r>
                        <a:rPr lang="en-IN" sz="1000" b="1" kern="100" dirty="0">
                          <a:effectLst/>
                        </a:rPr>
                        <a:t>192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768</a:t>
                      </a:r>
                      <a:endParaRPr lang="en-IN" sz="1400" b="1" kern="1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 1 × 1 x 1, </a:t>
                      </a:r>
                      <a:r>
                        <a:rPr lang="en-IN" sz="1000" b="1" kern="100" dirty="0">
                          <a:effectLst/>
                        </a:rPr>
                        <a:t>192</a:t>
                      </a:r>
                      <a:r>
                        <a:rPr lang="en-IN" sz="1000" kern="100" dirty="0">
                          <a:effectLst/>
                        </a:rPr>
                        <a:t>] x 3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4 x 4 x 5 x 192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61474"/>
                  </a:ext>
                </a:extLst>
              </a:tr>
              <a:tr h="179850">
                <a:tc rowSpan="3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3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classifier</a:t>
                      </a: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average pool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1 x 1 x 768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average pool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1 x 1 x 1 x 192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309719"/>
                  </a:ext>
                </a:extLst>
              </a:tr>
              <a:tr h="179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flatten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768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flatten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192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465567"/>
                  </a:ext>
                </a:extLst>
              </a:tr>
              <a:tr h="179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linear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1000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linear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IN" sz="1000" kern="100" dirty="0">
                          <a:effectLst/>
                        </a:rPr>
                        <a:t>50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19" marR="23319" marT="23319" marB="233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995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A35614-FE4B-77D8-08C4-BD7E17FDA6DF}"/>
              </a:ext>
            </a:extLst>
          </p:cNvPr>
          <p:cNvSpPr txBox="1"/>
          <p:nvPr/>
        </p:nvSpPr>
        <p:spPr>
          <a:xfrm>
            <a:off x="121920" y="3572519"/>
            <a:ext cx="3236664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Main modifications done for the 3D-ConvNeXt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No. of kernels, Stride &amp; Padding in the top layer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No. of kernels in the residual layers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Kernel size, Kernels count, Stride and Padding in the down-sampling layers.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C287C-83EB-8E4C-3D01-ABF0D381345F}"/>
              </a:ext>
            </a:extLst>
          </p:cNvPr>
          <p:cNvSpPr txBox="1"/>
          <p:nvPr/>
        </p:nvSpPr>
        <p:spPr>
          <a:xfrm>
            <a:off x="121920" y="1409235"/>
            <a:ext cx="323666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- 3D CNN models developed from the original 2D models.</a:t>
            </a:r>
          </a:p>
          <a:p>
            <a:pPr algn="just"/>
            <a:r>
              <a:rPr lang="en-US" dirty="0"/>
              <a:t>- The modifications aims to reduce the computational complexity of 3D models.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222D4-CCF6-A238-748E-7D31211EAE0B}"/>
              </a:ext>
            </a:extLst>
          </p:cNvPr>
          <p:cNvSpPr txBox="1"/>
          <p:nvPr/>
        </p:nvSpPr>
        <p:spPr>
          <a:xfrm>
            <a:off x="4208585" y="6330398"/>
            <a:ext cx="3325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10 – The 3D-ConvNeXt Architecture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4017926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09DF-E948-CFC9-7DFA-28CEC51B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3D-ConvNeXt Model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AF5268C-C528-A134-9190-AE819202C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327792"/>
              </p:ext>
            </p:extLst>
          </p:nvPr>
        </p:nvGraphicFramePr>
        <p:xfrm>
          <a:off x="330782" y="1049518"/>
          <a:ext cx="8499001" cy="1050890"/>
        </p:xfrm>
        <a:graphic>
          <a:graphicData uri="http://schemas.openxmlformats.org/drawingml/2006/table">
            <a:tbl>
              <a:tblPr/>
              <a:tblGrid>
                <a:gridCol w="1347893">
                  <a:extLst>
                    <a:ext uri="{9D8B030D-6E8A-4147-A177-3AD203B41FA5}">
                      <a16:colId xmlns:a16="http://schemas.microsoft.com/office/drawing/2014/main" val="2609136622"/>
                    </a:ext>
                  </a:extLst>
                </a:gridCol>
                <a:gridCol w="805218">
                  <a:extLst>
                    <a:ext uri="{9D8B030D-6E8A-4147-A177-3AD203B41FA5}">
                      <a16:colId xmlns:a16="http://schemas.microsoft.com/office/drawing/2014/main" val="1211625757"/>
                    </a:ext>
                  </a:extLst>
                </a:gridCol>
                <a:gridCol w="1269244">
                  <a:extLst>
                    <a:ext uri="{9D8B030D-6E8A-4147-A177-3AD203B41FA5}">
                      <a16:colId xmlns:a16="http://schemas.microsoft.com/office/drawing/2014/main" val="7740805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73811646"/>
                    </a:ext>
                  </a:extLst>
                </a:gridCol>
                <a:gridCol w="1269242">
                  <a:extLst>
                    <a:ext uri="{9D8B030D-6E8A-4147-A177-3AD203B41FA5}">
                      <a16:colId xmlns:a16="http://schemas.microsoft.com/office/drawing/2014/main" val="82593434"/>
                    </a:ext>
                  </a:extLst>
                </a:gridCol>
                <a:gridCol w="1337480">
                  <a:extLst>
                    <a:ext uri="{9D8B030D-6E8A-4147-A177-3AD203B41FA5}">
                      <a16:colId xmlns:a16="http://schemas.microsoft.com/office/drawing/2014/main" val="1539998192"/>
                    </a:ext>
                  </a:extLst>
                </a:gridCol>
                <a:gridCol w="691723">
                  <a:extLst>
                    <a:ext uri="{9D8B030D-6E8A-4147-A177-3AD203B41FA5}">
                      <a16:colId xmlns:a16="http://schemas.microsoft.com/office/drawing/2014/main" val="2937131468"/>
                    </a:ext>
                  </a:extLst>
                </a:gridCol>
                <a:gridCol w="863801">
                  <a:extLst>
                    <a:ext uri="{9D8B030D-6E8A-4147-A177-3AD203B41FA5}">
                      <a16:colId xmlns:a16="http://schemas.microsoft.com/office/drawing/2014/main" val="268874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Model Name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Batch Size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No. of parameters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Optimizer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Initial learning rate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LR Scheduler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Weight decay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Early Stopping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35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600" b="1" dirty="0">
                          <a:effectLst/>
                        </a:rPr>
                        <a:t>3D ConvNeXt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~2.8 M (~ 28.6 M for 2D)</a:t>
                      </a:r>
                      <a:endParaRPr lang="en-IN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adamw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0.0005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Warm-Up with Cosine Anneal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</a:rPr>
                        <a:t>Yes (p10*)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3595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6C7E2-B535-3685-6A8D-D522B6814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70318"/>
              </p:ext>
            </p:extLst>
          </p:nvPr>
        </p:nvGraphicFramePr>
        <p:xfrm>
          <a:off x="330782" y="2160337"/>
          <a:ext cx="8498998" cy="910740"/>
        </p:xfrm>
        <a:graphic>
          <a:graphicData uri="http://schemas.openxmlformats.org/drawingml/2006/table">
            <a:tbl>
              <a:tblPr/>
              <a:tblGrid>
                <a:gridCol w="870221">
                  <a:extLst>
                    <a:ext uri="{9D8B030D-6E8A-4147-A177-3AD203B41FA5}">
                      <a16:colId xmlns:a16="http://schemas.microsoft.com/office/drawing/2014/main" val="146182111"/>
                    </a:ext>
                  </a:extLst>
                </a:gridCol>
                <a:gridCol w="1210317">
                  <a:extLst>
                    <a:ext uri="{9D8B030D-6E8A-4147-A177-3AD203B41FA5}">
                      <a16:colId xmlns:a16="http://schemas.microsoft.com/office/drawing/2014/main" val="3747490733"/>
                    </a:ext>
                  </a:extLst>
                </a:gridCol>
                <a:gridCol w="1137098">
                  <a:extLst>
                    <a:ext uri="{9D8B030D-6E8A-4147-A177-3AD203B41FA5}">
                      <a16:colId xmlns:a16="http://schemas.microsoft.com/office/drawing/2014/main" val="1327553563"/>
                    </a:ext>
                  </a:extLst>
                </a:gridCol>
                <a:gridCol w="1120286">
                  <a:extLst>
                    <a:ext uri="{9D8B030D-6E8A-4147-A177-3AD203B41FA5}">
                      <a16:colId xmlns:a16="http://schemas.microsoft.com/office/drawing/2014/main" val="3625739343"/>
                    </a:ext>
                  </a:extLst>
                </a:gridCol>
                <a:gridCol w="1404550">
                  <a:extLst>
                    <a:ext uri="{9D8B030D-6E8A-4147-A177-3AD203B41FA5}">
                      <a16:colId xmlns:a16="http://schemas.microsoft.com/office/drawing/2014/main" val="1890569882"/>
                    </a:ext>
                  </a:extLst>
                </a:gridCol>
                <a:gridCol w="832513">
                  <a:extLst>
                    <a:ext uri="{9D8B030D-6E8A-4147-A177-3AD203B41FA5}">
                      <a16:colId xmlns:a16="http://schemas.microsoft.com/office/drawing/2014/main" val="44705761"/>
                    </a:ext>
                  </a:extLst>
                </a:gridCol>
                <a:gridCol w="982639">
                  <a:extLst>
                    <a:ext uri="{9D8B030D-6E8A-4147-A177-3AD203B41FA5}">
                      <a16:colId xmlns:a16="http://schemas.microsoft.com/office/drawing/2014/main" val="1510591978"/>
                    </a:ext>
                  </a:extLst>
                </a:gridCol>
                <a:gridCol w="941374">
                  <a:extLst>
                    <a:ext uri="{9D8B030D-6E8A-4147-A177-3AD203B41FA5}">
                      <a16:colId xmlns:a16="http://schemas.microsoft.com/office/drawing/2014/main" val="40943314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Epochs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Time/Epoch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Memory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Training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Validation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Test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Precision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Recall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93591"/>
                  </a:ext>
                </a:extLst>
              </a:tr>
              <a:tr h="55464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84/100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270 sec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12227/16384 MiB*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0.954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15000"/>
                        </a:lnSpc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1482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D87336-6886-631C-A96B-0AD47A4E67E3}"/>
              </a:ext>
            </a:extLst>
          </p:cNvPr>
          <p:cNvSpPr txBox="1"/>
          <p:nvPr/>
        </p:nvSpPr>
        <p:spPr>
          <a:xfrm>
            <a:off x="3797228" y="3141174"/>
            <a:ext cx="2344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Learning Curves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37AA9-B7DD-E58E-B548-E2405E87D8FF}"/>
              </a:ext>
            </a:extLst>
          </p:cNvPr>
          <p:cNvSpPr txBox="1"/>
          <p:nvPr/>
        </p:nvSpPr>
        <p:spPr>
          <a:xfrm>
            <a:off x="-13649" y="6612332"/>
            <a:ext cx="5581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*p5/p10 – patience of 5/10 epochs, *MiB – Mebibyte (1,048,576 bytes)</a:t>
            </a:r>
          </a:p>
        </p:txBody>
      </p:sp>
      <p:pic>
        <p:nvPicPr>
          <p:cNvPr id="11" name="image2.png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5BE1C5EE-E617-399C-2D3A-27B3C4A8EF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58799" y="3535680"/>
            <a:ext cx="3891975" cy="2747998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pic>
      <p:pic>
        <p:nvPicPr>
          <p:cNvPr id="12" name="image19.png" descr="A graph of a graph&#10;&#10;AI-generated content may be incorrect.">
            <a:extLst>
              <a:ext uri="{FF2B5EF4-FFF2-40B4-BE49-F238E27FC236}">
                <a16:creationId xmlns:a16="http://schemas.microsoft.com/office/drawing/2014/main" id="{A9DC1C72-4A82-A326-1776-A79BDAD44CB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51009" y="3535680"/>
            <a:ext cx="3891975" cy="2747998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694E3B-E874-E55A-E96D-06783C7303E4}"/>
              </a:ext>
            </a:extLst>
          </p:cNvPr>
          <p:cNvSpPr txBox="1"/>
          <p:nvPr/>
        </p:nvSpPr>
        <p:spPr>
          <a:xfrm>
            <a:off x="2712720" y="6330398"/>
            <a:ext cx="4084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11 – Learning Curves for 3D-ConvNeXt model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51085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2F39-AA7B-1AA8-0829-35AC64A9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3D-DenseNet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A66893-464B-109E-7A1A-DD5FC3566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085884"/>
              </p:ext>
            </p:extLst>
          </p:nvPr>
        </p:nvGraphicFramePr>
        <p:xfrm>
          <a:off x="303486" y="1992573"/>
          <a:ext cx="7042079" cy="4642768"/>
        </p:xfrm>
        <a:graphic>
          <a:graphicData uri="http://schemas.openxmlformats.org/drawingml/2006/table">
            <a:tbl>
              <a:tblPr/>
              <a:tblGrid>
                <a:gridCol w="1091026">
                  <a:extLst>
                    <a:ext uri="{9D8B030D-6E8A-4147-A177-3AD203B41FA5}">
                      <a16:colId xmlns:a16="http://schemas.microsoft.com/office/drawing/2014/main" val="3770304056"/>
                    </a:ext>
                  </a:extLst>
                </a:gridCol>
                <a:gridCol w="1575928">
                  <a:extLst>
                    <a:ext uri="{9D8B030D-6E8A-4147-A177-3AD203B41FA5}">
                      <a16:colId xmlns:a16="http://schemas.microsoft.com/office/drawing/2014/main" val="419999801"/>
                    </a:ext>
                  </a:extLst>
                </a:gridCol>
                <a:gridCol w="1124088">
                  <a:extLst>
                    <a:ext uri="{9D8B030D-6E8A-4147-A177-3AD203B41FA5}">
                      <a16:colId xmlns:a16="http://schemas.microsoft.com/office/drawing/2014/main" val="1010329400"/>
                    </a:ext>
                  </a:extLst>
                </a:gridCol>
                <a:gridCol w="1763274">
                  <a:extLst>
                    <a:ext uri="{9D8B030D-6E8A-4147-A177-3AD203B41FA5}">
                      <a16:colId xmlns:a16="http://schemas.microsoft.com/office/drawing/2014/main" val="1642579792"/>
                    </a:ext>
                  </a:extLst>
                </a:gridCol>
                <a:gridCol w="1487763">
                  <a:extLst>
                    <a:ext uri="{9D8B030D-6E8A-4147-A177-3AD203B41FA5}">
                      <a16:colId xmlns:a16="http://schemas.microsoft.com/office/drawing/2014/main" val="4259970581"/>
                    </a:ext>
                  </a:extLst>
                </a:gridCol>
              </a:tblGrid>
              <a:tr h="312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1" dirty="0">
                          <a:effectLst/>
                        </a:rPr>
                        <a:t>DenseNet-121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Original 2D DenseNet-121 (k=32)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 size of </a:t>
                      </a:r>
                      <a:br>
                        <a:rPr lang="en-US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DenseNet-121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3D-DenseNet</a:t>
                      </a:r>
                      <a:b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(k=6)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 size of</a:t>
                      </a:r>
                      <a:b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3D-DenseNet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055190"/>
                  </a:ext>
                </a:extLst>
              </a:tr>
              <a:tr h="19515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Input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IN" sz="1200" dirty="0">
                        <a:effectLst/>
                        <a:latin typeface="+mj-lt"/>
                      </a:endParaRPr>
                    </a:p>
                  </a:txBody>
                  <a:tcPr marL="15208" marR="15208" marT="10139" marB="101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224 x 224 x 3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IN" sz="1200" dirty="0">
                        <a:effectLst/>
                        <a:latin typeface="+mj-lt"/>
                      </a:endParaRPr>
                    </a:p>
                  </a:txBody>
                  <a:tcPr marL="15208" marR="15208" marT="10139" marB="101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56 x 56 x 147 x 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29015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Conv1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7×7, 64, stride 2, padding 3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112 x 112 x 64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1" i="0" dirty="0">
                          <a:effectLst/>
                          <a:latin typeface="+mj-lt"/>
                        </a:rPr>
                        <a:t>3x3x3, </a:t>
                      </a:r>
                      <a:r>
                        <a:rPr lang="en-IN" sz="1200" b="0" i="0" dirty="0">
                          <a:effectLst/>
                          <a:latin typeface="+mj-lt"/>
                        </a:rPr>
                        <a:t>64</a:t>
                      </a:r>
                      <a:r>
                        <a:rPr lang="en-IN" sz="1200" b="1" i="0" dirty="0">
                          <a:effectLst/>
                          <a:latin typeface="+mj-lt"/>
                        </a:rPr>
                        <a:t>, stride (2,1,1), padding 1</a:t>
                      </a:r>
                      <a:endParaRPr lang="en-IN" sz="1200" b="1" dirty="0">
                        <a:effectLst/>
                        <a:latin typeface="+mj-lt"/>
                      </a:endParaRP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56 x 56 x 74 x 64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822690"/>
                  </a:ext>
                </a:extLst>
              </a:tr>
              <a:tr h="3406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Max Pool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2x2, stride 2, padding 0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56 x 56 x 64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2x2x2, stride 2, padding 0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28 x 28 x 37 x 64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119321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Dense Block 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3×3,  k, s1, p1] x 6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56 x 56 x 256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[1×1x1,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3×3x3,  k, s1, p1] x 6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28 x 28 x 37 x 100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054212"/>
                  </a:ext>
                </a:extLst>
              </a:tr>
              <a:tr h="195157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Transition Layer 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conv(1x1,128,s1,p0)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28 x 28 x 128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conv(1x1x1,50,s1,p0)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14 x 14 x 18 x 50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665448"/>
                  </a:ext>
                </a:extLst>
              </a:tr>
              <a:tr h="1951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kern="1200" dirty="0" err="1">
                          <a:solidFill>
                            <a:srgbClr val="9999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 pool(2x2,s2,p0)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kern="1200" dirty="0" err="1">
                          <a:solidFill>
                            <a:srgbClr val="9999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 pool(2x2x2,s2,p0)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721114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Dense Block 2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3×3,  k, s1, p1] x 12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28 x 28 x 512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[1×1x1,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3×3x3,  k, s1, p1] x 12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14 x 14 x 18 x 122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762141"/>
                  </a:ext>
                </a:extLst>
              </a:tr>
              <a:tr h="195157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Transition Layer 2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conv(1x1,256,s1,p0)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14 x 14 x 256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conv(1x1x1,61,s1,p0)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7 x 7 x 9 x 61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257396"/>
                  </a:ext>
                </a:extLst>
              </a:tr>
              <a:tr h="1951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 err="1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Avg</a:t>
                      </a:r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 pool(2x2,s2,p0)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kern="1200" dirty="0" err="1">
                          <a:solidFill>
                            <a:srgbClr val="9999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 pool(2x2x2,s2,p0)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58893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Dense Block 3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3×3,  k, s1, p1] x 24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14 x 14 x 1024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[1×1x1,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3×3x3,  k, s1, p1] x 24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7 x 7 x 9 x 205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77731"/>
                  </a:ext>
                </a:extLst>
              </a:tr>
              <a:tr h="195157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Transition Layer 3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conv(1x1,512,s1,p0)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7 x 7 x 512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conv(1x1x1,102,s1,p0)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3 x 3 x 4 x 102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605515"/>
                  </a:ext>
                </a:extLst>
              </a:tr>
              <a:tr h="1951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kern="1200" dirty="0" err="1">
                          <a:solidFill>
                            <a:srgbClr val="9999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 pool(2x2,s2,p0)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kern="1200" dirty="0" err="1">
                          <a:solidFill>
                            <a:srgbClr val="9999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200" b="0" dirty="0">
                          <a:solidFill>
                            <a:srgbClr val="999999"/>
                          </a:solidFill>
                          <a:effectLst/>
                          <a:latin typeface="+mj-lt"/>
                        </a:rPr>
                        <a:t> pool(2x2x2,s2,p0)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592873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Dense Block 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3×3,  k, s1, p1] x 16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7 x 7 x 1024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[1×1x1, 4k, s1, p0 </a:t>
                      </a:r>
                      <a:br>
                        <a:rPr lang="en-IN" sz="1200" b="0" dirty="0">
                          <a:effectLst/>
                          <a:latin typeface="+mj-lt"/>
                        </a:rPr>
                      </a:br>
                      <a:r>
                        <a:rPr lang="en-IN" sz="1200" b="0" dirty="0">
                          <a:effectLst/>
                          <a:latin typeface="+mj-lt"/>
                        </a:rPr>
                        <a:t> 3×3x3,  k, s1, p1] x 16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>
                          <a:effectLst/>
                          <a:latin typeface="+mj-lt"/>
                        </a:rPr>
                        <a:t>3 x 3 x 4 x 198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005548"/>
                  </a:ext>
                </a:extLst>
              </a:tr>
              <a:tr h="195157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+mj-lt"/>
                        </a:rPr>
                        <a:t>Classifier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average pool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1 x 1 x 1024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average pool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1 x 1 x 1 x 198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71204"/>
                  </a:ext>
                </a:extLst>
              </a:tr>
              <a:tr h="1951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flatten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1024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>
                          <a:effectLst/>
                          <a:latin typeface="+mj-lt"/>
                        </a:rPr>
                        <a:t>flatten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198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7134"/>
                  </a:ext>
                </a:extLst>
              </a:tr>
              <a:tr h="19515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linear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1000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b="0" dirty="0">
                          <a:effectLst/>
                          <a:latin typeface="+mj-lt"/>
                        </a:rPr>
                        <a:t>linear</a:t>
                      </a:r>
                    </a:p>
                  </a:txBody>
                  <a:tcPr marL="15208" marR="15208" marT="10139" marB="10139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dirty="0"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15208" marR="15208" marT="10139" marB="10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519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8989CA1-B4A9-1FD5-6464-1D1582182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36419" y="3214822"/>
            <a:ext cx="5186147" cy="11585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F0B785-A15E-30D3-20AF-8A91E67FE93F}"/>
              </a:ext>
            </a:extLst>
          </p:cNvPr>
          <p:cNvSpPr txBox="1"/>
          <p:nvPr/>
        </p:nvSpPr>
        <p:spPr>
          <a:xfrm>
            <a:off x="7668344" y="950565"/>
            <a:ext cx="2123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/>
              <a:t>2D DenseNet-121</a:t>
            </a:r>
            <a:endParaRPr lang="en-IN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69750-439A-6007-F583-1388C9330EAA}"/>
              </a:ext>
            </a:extLst>
          </p:cNvPr>
          <p:cNvSpPr txBox="1"/>
          <p:nvPr/>
        </p:nvSpPr>
        <p:spPr>
          <a:xfrm>
            <a:off x="303486" y="1041449"/>
            <a:ext cx="703399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Main Modifications done for 3D-DenseNet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Kernel size, Stride &amp; Padding in the top layer</a:t>
            </a:r>
            <a:r>
              <a:rPr lang="en-IN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 growth rate (k) parameter is reduced from 32 to 6.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F94B2-1326-7F6E-9975-78BCD8266C0A}"/>
              </a:ext>
            </a:extLst>
          </p:cNvPr>
          <p:cNvSpPr txBox="1"/>
          <p:nvPr/>
        </p:nvSpPr>
        <p:spPr>
          <a:xfrm>
            <a:off x="2448560" y="6607700"/>
            <a:ext cx="3448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12 – The 3D-DenseNet Architecture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182213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0E25-0BDE-C580-19F5-FC32A2DB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E1CB-FDB7-C913-1A12-FF0E6CE8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of 3D-DenseNet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29A148-D537-6E15-BF04-37B9D5396D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62381873"/>
              </p:ext>
            </p:extLst>
          </p:nvPr>
        </p:nvGraphicFramePr>
        <p:xfrm>
          <a:off x="330782" y="1049518"/>
          <a:ext cx="8499001" cy="1050890"/>
        </p:xfrm>
        <a:graphic>
          <a:graphicData uri="http://schemas.openxmlformats.org/drawingml/2006/table">
            <a:tbl>
              <a:tblPr/>
              <a:tblGrid>
                <a:gridCol w="1347893">
                  <a:extLst>
                    <a:ext uri="{9D8B030D-6E8A-4147-A177-3AD203B41FA5}">
                      <a16:colId xmlns:a16="http://schemas.microsoft.com/office/drawing/2014/main" val="2609136622"/>
                    </a:ext>
                  </a:extLst>
                </a:gridCol>
                <a:gridCol w="805218">
                  <a:extLst>
                    <a:ext uri="{9D8B030D-6E8A-4147-A177-3AD203B41FA5}">
                      <a16:colId xmlns:a16="http://schemas.microsoft.com/office/drawing/2014/main" val="1211625757"/>
                    </a:ext>
                  </a:extLst>
                </a:gridCol>
                <a:gridCol w="1269244">
                  <a:extLst>
                    <a:ext uri="{9D8B030D-6E8A-4147-A177-3AD203B41FA5}">
                      <a16:colId xmlns:a16="http://schemas.microsoft.com/office/drawing/2014/main" val="7740805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73811646"/>
                    </a:ext>
                  </a:extLst>
                </a:gridCol>
                <a:gridCol w="1269242">
                  <a:extLst>
                    <a:ext uri="{9D8B030D-6E8A-4147-A177-3AD203B41FA5}">
                      <a16:colId xmlns:a16="http://schemas.microsoft.com/office/drawing/2014/main" val="82593434"/>
                    </a:ext>
                  </a:extLst>
                </a:gridCol>
                <a:gridCol w="1337480">
                  <a:extLst>
                    <a:ext uri="{9D8B030D-6E8A-4147-A177-3AD203B41FA5}">
                      <a16:colId xmlns:a16="http://schemas.microsoft.com/office/drawing/2014/main" val="1539998192"/>
                    </a:ext>
                  </a:extLst>
                </a:gridCol>
                <a:gridCol w="691723">
                  <a:extLst>
                    <a:ext uri="{9D8B030D-6E8A-4147-A177-3AD203B41FA5}">
                      <a16:colId xmlns:a16="http://schemas.microsoft.com/office/drawing/2014/main" val="2937131468"/>
                    </a:ext>
                  </a:extLst>
                </a:gridCol>
                <a:gridCol w="863801">
                  <a:extLst>
                    <a:ext uri="{9D8B030D-6E8A-4147-A177-3AD203B41FA5}">
                      <a16:colId xmlns:a16="http://schemas.microsoft.com/office/drawing/2014/main" val="268874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Model Name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Batch Size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No. of parameters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Optimizer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Initial learning rate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LR Scheduler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Weight decay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Early Stopping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35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600" b="1" dirty="0">
                          <a:effectLst/>
                        </a:rPr>
                        <a:t>3D DenseNet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32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~.45 M (~ 8 M for 2D)</a:t>
                      </a:r>
                      <a:endParaRPr lang="en-IN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sgd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0.0005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StepLR (0.5, 10 epochs)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0.025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</a:rPr>
                        <a:t>Yes (p10*)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359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1017F3-7F3D-AF51-B408-82B31B53B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8500"/>
              </p:ext>
            </p:extLst>
          </p:nvPr>
        </p:nvGraphicFramePr>
        <p:xfrm>
          <a:off x="330782" y="2160337"/>
          <a:ext cx="8498998" cy="910740"/>
        </p:xfrm>
        <a:graphic>
          <a:graphicData uri="http://schemas.openxmlformats.org/drawingml/2006/table">
            <a:tbl>
              <a:tblPr/>
              <a:tblGrid>
                <a:gridCol w="870221">
                  <a:extLst>
                    <a:ext uri="{9D8B030D-6E8A-4147-A177-3AD203B41FA5}">
                      <a16:colId xmlns:a16="http://schemas.microsoft.com/office/drawing/2014/main" val="146182111"/>
                    </a:ext>
                  </a:extLst>
                </a:gridCol>
                <a:gridCol w="1210317">
                  <a:extLst>
                    <a:ext uri="{9D8B030D-6E8A-4147-A177-3AD203B41FA5}">
                      <a16:colId xmlns:a16="http://schemas.microsoft.com/office/drawing/2014/main" val="3747490733"/>
                    </a:ext>
                  </a:extLst>
                </a:gridCol>
                <a:gridCol w="1137098">
                  <a:extLst>
                    <a:ext uri="{9D8B030D-6E8A-4147-A177-3AD203B41FA5}">
                      <a16:colId xmlns:a16="http://schemas.microsoft.com/office/drawing/2014/main" val="1327553563"/>
                    </a:ext>
                  </a:extLst>
                </a:gridCol>
                <a:gridCol w="1120286">
                  <a:extLst>
                    <a:ext uri="{9D8B030D-6E8A-4147-A177-3AD203B41FA5}">
                      <a16:colId xmlns:a16="http://schemas.microsoft.com/office/drawing/2014/main" val="3625739343"/>
                    </a:ext>
                  </a:extLst>
                </a:gridCol>
                <a:gridCol w="1404550">
                  <a:extLst>
                    <a:ext uri="{9D8B030D-6E8A-4147-A177-3AD203B41FA5}">
                      <a16:colId xmlns:a16="http://schemas.microsoft.com/office/drawing/2014/main" val="1890569882"/>
                    </a:ext>
                  </a:extLst>
                </a:gridCol>
                <a:gridCol w="832513">
                  <a:extLst>
                    <a:ext uri="{9D8B030D-6E8A-4147-A177-3AD203B41FA5}">
                      <a16:colId xmlns:a16="http://schemas.microsoft.com/office/drawing/2014/main" val="44705761"/>
                    </a:ext>
                  </a:extLst>
                </a:gridCol>
                <a:gridCol w="982639">
                  <a:extLst>
                    <a:ext uri="{9D8B030D-6E8A-4147-A177-3AD203B41FA5}">
                      <a16:colId xmlns:a16="http://schemas.microsoft.com/office/drawing/2014/main" val="1510591978"/>
                    </a:ext>
                  </a:extLst>
                </a:gridCol>
                <a:gridCol w="941374">
                  <a:extLst>
                    <a:ext uri="{9D8B030D-6E8A-4147-A177-3AD203B41FA5}">
                      <a16:colId xmlns:a16="http://schemas.microsoft.com/office/drawing/2014/main" val="40943314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Epochs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Time/Epoch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Memory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Training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Validation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Test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Precision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Recall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93591"/>
                  </a:ext>
                </a:extLst>
              </a:tr>
              <a:tr h="55464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100/100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220 sec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15227/16384 MiB*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0.999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0.969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0.977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1482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DC2FE12-F313-F4E0-9619-45076D8A2C21}"/>
              </a:ext>
            </a:extLst>
          </p:cNvPr>
          <p:cNvSpPr txBox="1"/>
          <p:nvPr/>
        </p:nvSpPr>
        <p:spPr>
          <a:xfrm>
            <a:off x="3797228" y="3151334"/>
            <a:ext cx="2344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Learning Curves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1D9C9E2-1B4B-538D-2E9C-82A3BD5CE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9" y="3676523"/>
            <a:ext cx="3861323" cy="25944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4212CA8-1AE4-D0B0-6B14-9297E8AEB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640" y="3682726"/>
            <a:ext cx="3839511" cy="258825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8EC21A-DD73-4A0A-B6FD-78756D1B5CF7}"/>
              </a:ext>
            </a:extLst>
          </p:cNvPr>
          <p:cNvSpPr txBox="1"/>
          <p:nvPr/>
        </p:nvSpPr>
        <p:spPr>
          <a:xfrm>
            <a:off x="-13649" y="6612332"/>
            <a:ext cx="5581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*p5/p10 – patience of 5/10 epochs, *MiB – Mebibyte (1,048,576 bytes)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C281B-0551-E417-7E30-AF5DB4F48135}"/>
              </a:ext>
            </a:extLst>
          </p:cNvPr>
          <p:cNvSpPr txBox="1"/>
          <p:nvPr/>
        </p:nvSpPr>
        <p:spPr>
          <a:xfrm>
            <a:off x="2712720" y="6299918"/>
            <a:ext cx="4084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13 – Learning Curves for 3D-DenseNet model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102515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8EBF-79ED-8308-CA05-4022F17B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3D-Resnet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AD0236-734A-D232-0693-E73C66F209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32549921"/>
              </p:ext>
            </p:extLst>
          </p:nvPr>
        </p:nvGraphicFramePr>
        <p:xfrm>
          <a:off x="194304" y="2133600"/>
          <a:ext cx="7128000" cy="4466815"/>
        </p:xfrm>
        <a:graphic>
          <a:graphicData uri="http://schemas.openxmlformats.org/drawingml/2006/table">
            <a:tbl>
              <a:tblPr/>
              <a:tblGrid>
                <a:gridCol w="1131429">
                  <a:extLst>
                    <a:ext uri="{9D8B030D-6E8A-4147-A177-3AD203B41FA5}">
                      <a16:colId xmlns:a16="http://schemas.microsoft.com/office/drawing/2014/main" val="2712943100"/>
                    </a:ext>
                  </a:extLst>
                </a:gridCol>
                <a:gridCol w="1557874">
                  <a:extLst>
                    <a:ext uri="{9D8B030D-6E8A-4147-A177-3AD203B41FA5}">
                      <a16:colId xmlns:a16="http://schemas.microsoft.com/office/drawing/2014/main" val="1324905545"/>
                    </a:ext>
                  </a:extLst>
                </a:gridCol>
                <a:gridCol w="1315955">
                  <a:extLst>
                    <a:ext uri="{9D8B030D-6E8A-4147-A177-3AD203B41FA5}">
                      <a16:colId xmlns:a16="http://schemas.microsoft.com/office/drawing/2014/main" val="2382146246"/>
                    </a:ext>
                  </a:extLst>
                </a:gridCol>
                <a:gridCol w="1746746">
                  <a:extLst>
                    <a:ext uri="{9D8B030D-6E8A-4147-A177-3AD203B41FA5}">
                      <a16:colId xmlns:a16="http://schemas.microsoft.com/office/drawing/2014/main" val="2749388041"/>
                    </a:ext>
                  </a:extLst>
                </a:gridCol>
                <a:gridCol w="1375996">
                  <a:extLst>
                    <a:ext uri="{9D8B030D-6E8A-4147-A177-3AD203B41FA5}">
                      <a16:colId xmlns:a16="http://schemas.microsoft.com/office/drawing/2014/main" val="4147277518"/>
                    </a:ext>
                  </a:extLst>
                </a:gridCol>
              </a:tblGrid>
              <a:tr h="48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b="1" dirty="0">
                          <a:effectLst/>
                        </a:rPr>
                        <a:t>ResNet-34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Arial" panose="020B0604020202020204" pitchFamily="34" charset="0"/>
                        </a:rPr>
                        <a:t>2D ResNet-34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dirty="0">
                          <a:effectLst/>
                          <a:latin typeface="Arial" panose="020B0604020202020204" pitchFamily="34" charset="0"/>
                        </a:rPr>
                        <a:t>Output size of</a:t>
                      </a:r>
                      <a:br>
                        <a:rPr lang="en-US" sz="12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</a:rPr>
                        <a:t> 2D ResNet-34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Arial" panose="020B0604020202020204" pitchFamily="34" charset="0"/>
                        </a:rPr>
                        <a:t>3D-ResNet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dirty="0">
                          <a:effectLst/>
                          <a:latin typeface="Arial" panose="020B0604020202020204" pitchFamily="34" charset="0"/>
                        </a:rPr>
                        <a:t>Output size of</a:t>
                      </a:r>
                      <a:br>
                        <a:rPr lang="en-IN" sz="12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200" b="1" dirty="0">
                          <a:effectLst/>
                          <a:latin typeface="Arial" panose="020B0604020202020204" pitchFamily="34" charset="0"/>
                        </a:rPr>
                        <a:t>3D-ResNet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370033"/>
                  </a:ext>
                </a:extLst>
              </a:tr>
              <a:tr h="265952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dirty="0">
                          <a:effectLst/>
                          <a:latin typeface="+mj-lt"/>
                        </a:rPr>
                        <a:t>Input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IN" sz="1300" dirty="0">
                        <a:effectLst/>
                        <a:latin typeface="+mj-lt"/>
                      </a:endParaRP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224 x 224 x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IN" sz="1300" dirty="0">
                        <a:effectLst/>
                        <a:latin typeface="+mj-lt"/>
                      </a:endParaRP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56 x 56 x 147 x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83696"/>
                  </a:ext>
                </a:extLst>
              </a:tr>
              <a:tr h="48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  <a:latin typeface="+mj-lt"/>
                        </a:rPr>
                        <a:t>Conv1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7×7, 64, stride 2, padding 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112 x 112 x 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>
                          <a:effectLst/>
                          <a:latin typeface="+mj-lt"/>
                        </a:rPr>
                        <a:t>3x3x3, </a:t>
                      </a:r>
                      <a:r>
                        <a:rPr lang="en-IN" sz="1300" b="0" i="0">
                          <a:effectLst/>
                          <a:latin typeface="+mj-lt"/>
                        </a:rPr>
                        <a:t>64</a:t>
                      </a:r>
                      <a:r>
                        <a:rPr lang="en-IN" sz="1300" b="1" i="0">
                          <a:effectLst/>
                          <a:latin typeface="+mj-lt"/>
                        </a:rPr>
                        <a:t>, stride (2,1,1), padding 1</a:t>
                      </a:r>
                      <a:endParaRPr lang="en-IN" sz="1300" b="1">
                        <a:effectLst/>
                        <a:latin typeface="+mj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56 x 56 x 74 x 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328551"/>
                  </a:ext>
                </a:extLst>
              </a:tr>
              <a:tr h="4689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</a:rPr>
                        <a:t>Max Pool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3x3, stride 2, padding 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>
                          <a:effectLst/>
                          <a:latin typeface="+mj-lt"/>
                        </a:rPr>
                        <a:t>56 x 56 x 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>
                          <a:effectLst/>
                          <a:latin typeface="+mj-lt"/>
                        </a:rPr>
                        <a:t>3x3x3, stride 2, padding 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28 x 28 x 37 x 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36055"/>
                  </a:ext>
                </a:extLst>
              </a:tr>
              <a:tr h="48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</a:rPr>
                        <a:t>Block1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[3×3, 64, p1, s1 </a:t>
                      </a:r>
                      <a:br>
                        <a:rPr lang="en-IN" sz="1300" b="0" dirty="0">
                          <a:effectLst/>
                          <a:latin typeface="+mj-lt"/>
                        </a:rPr>
                      </a:br>
                      <a:r>
                        <a:rPr lang="en-IN" sz="1300" b="0" dirty="0">
                          <a:effectLst/>
                          <a:latin typeface="+mj-lt"/>
                        </a:rPr>
                        <a:t> 3×3, 64, p1,s1] x   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56 x 56 x 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i="0" dirty="0">
                          <a:effectLst/>
                          <a:latin typeface="+mj-lt"/>
                        </a:rPr>
                        <a:t>[3×3x3,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16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 </a:t>
                      </a:r>
                      <a:br>
                        <a:rPr lang="en-IN" sz="1300" b="0" i="0" dirty="0">
                          <a:effectLst/>
                          <a:latin typeface="+mj-lt"/>
                        </a:rPr>
                      </a:br>
                      <a:r>
                        <a:rPr lang="en-IN" sz="1300" b="0" i="0" dirty="0">
                          <a:effectLst/>
                          <a:latin typeface="+mj-lt"/>
                        </a:rPr>
                        <a:t> 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16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p1,s1] x 3</a:t>
                      </a:r>
                      <a:endParaRPr lang="en-IN" sz="1300" b="0" dirty="0">
                        <a:effectLst/>
                        <a:latin typeface="+mj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>
                          <a:effectLst/>
                          <a:latin typeface="+mj-lt"/>
                        </a:rPr>
                        <a:t>28 x 28 x 37 x 16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268482"/>
                  </a:ext>
                </a:extLst>
              </a:tr>
              <a:tr h="48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</a:rPr>
                        <a:t>Block2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[3×3, 128, p1,s1 </a:t>
                      </a:r>
                      <a:br>
                        <a:rPr lang="en-IN" sz="1300" b="0" dirty="0">
                          <a:effectLst/>
                          <a:latin typeface="+mj-lt"/>
                        </a:rPr>
                      </a:br>
                      <a:r>
                        <a:rPr lang="en-IN" sz="1300" b="0" dirty="0">
                          <a:effectLst/>
                          <a:latin typeface="+mj-lt"/>
                        </a:rPr>
                        <a:t> 3×3, 128, p1,s1] x 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>
                          <a:effectLst/>
                          <a:latin typeface="+mj-lt"/>
                        </a:rPr>
                        <a:t>28 x 28 x 128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i="0" dirty="0">
                          <a:effectLst/>
                          <a:latin typeface="+mj-lt"/>
                        </a:rPr>
                        <a:t>[3×3x3,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32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 </a:t>
                      </a:r>
                      <a:br>
                        <a:rPr lang="en-IN" sz="1300" b="0" i="0" dirty="0">
                          <a:effectLst/>
                          <a:latin typeface="+mj-lt"/>
                        </a:rPr>
                      </a:br>
                      <a:r>
                        <a:rPr lang="en-IN" sz="1300" b="0" i="0" dirty="0">
                          <a:effectLst/>
                          <a:latin typeface="+mj-lt"/>
                        </a:rPr>
                        <a:t> 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32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p1,s1] x 4</a:t>
                      </a:r>
                      <a:endParaRPr lang="en-IN" sz="1300" b="0" dirty="0">
                        <a:effectLst/>
                        <a:latin typeface="+mj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>
                          <a:effectLst/>
                          <a:latin typeface="+mj-lt"/>
                        </a:rPr>
                        <a:t>14 x 14 x 19 x 32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884847"/>
                  </a:ext>
                </a:extLst>
              </a:tr>
              <a:tr h="48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</a:rPr>
                        <a:t>Block3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[3×3, 256, p1,s1 </a:t>
                      </a:r>
                      <a:br>
                        <a:rPr lang="en-IN" sz="1300" b="0" dirty="0">
                          <a:effectLst/>
                          <a:latin typeface="+mj-lt"/>
                        </a:rPr>
                      </a:br>
                      <a:r>
                        <a:rPr lang="en-IN" sz="1300" b="0" dirty="0">
                          <a:effectLst/>
                          <a:latin typeface="+mj-lt"/>
                        </a:rPr>
                        <a:t> 3×3, 256, p1,s1] x 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>
                          <a:effectLst/>
                          <a:latin typeface="+mj-lt"/>
                        </a:rPr>
                        <a:t>14 x 14 x 256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i="0" dirty="0">
                          <a:effectLst/>
                          <a:latin typeface="+mj-lt"/>
                        </a:rPr>
                        <a:t>[3×3x3,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64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 </a:t>
                      </a:r>
                      <a:br>
                        <a:rPr lang="en-IN" sz="1300" b="0" i="0" dirty="0">
                          <a:effectLst/>
                          <a:latin typeface="+mj-lt"/>
                        </a:rPr>
                      </a:br>
                      <a:r>
                        <a:rPr lang="en-IN" sz="1300" b="0" i="0" dirty="0">
                          <a:effectLst/>
                          <a:latin typeface="+mj-lt"/>
                        </a:rPr>
                        <a:t> 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64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p1,s1] x 6</a:t>
                      </a:r>
                      <a:endParaRPr lang="en-IN" sz="1300" b="0" dirty="0">
                        <a:effectLst/>
                        <a:latin typeface="+mj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>
                          <a:effectLst/>
                          <a:latin typeface="+mj-lt"/>
                        </a:rPr>
                        <a:t>7 x 7 x 10 x 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628464"/>
                  </a:ext>
                </a:extLst>
              </a:tr>
              <a:tr h="4890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</a:rPr>
                        <a:t>Block4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[3×3, 512, p1,s1 </a:t>
                      </a:r>
                      <a:br>
                        <a:rPr lang="en-IN" sz="1300" b="0" dirty="0">
                          <a:effectLst/>
                          <a:latin typeface="+mj-lt"/>
                        </a:rPr>
                      </a:br>
                      <a:r>
                        <a:rPr lang="en-IN" sz="1300" b="0" dirty="0">
                          <a:effectLst/>
                          <a:latin typeface="+mj-lt"/>
                        </a:rPr>
                        <a:t> 3×3, 512, p1,s1] x 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7 x 7 x 512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300" b="0" i="0" dirty="0">
                          <a:effectLst/>
                          <a:latin typeface="+mj-lt"/>
                        </a:rPr>
                        <a:t>[3×3x3,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128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 </a:t>
                      </a:r>
                      <a:br>
                        <a:rPr lang="en-IN" sz="1300" b="0" i="0" dirty="0">
                          <a:effectLst/>
                          <a:latin typeface="+mj-lt"/>
                        </a:rPr>
                      </a:br>
                      <a:r>
                        <a:rPr lang="en-IN" sz="1300" b="0" i="0" dirty="0">
                          <a:effectLst/>
                          <a:latin typeface="+mj-lt"/>
                        </a:rPr>
                        <a:t> 3×3x3, </a:t>
                      </a:r>
                      <a:r>
                        <a:rPr lang="en-IN" sz="1300" b="1" i="0" dirty="0">
                          <a:effectLst/>
                          <a:latin typeface="+mj-lt"/>
                        </a:rPr>
                        <a:t>128</a:t>
                      </a:r>
                      <a:r>
                        <a:rPr lang="en-IN" sz="1300" b="0" i="0" dirty="0">
                          <a:effectLst/>
                          <a:latin typeface="+mj-lt"/>
                        </a:rPr>
                        <a:t>, p1,s1] x 3</a:t>
                      </a:r>
                      <a:endParaRPr lang="en-IN" sz="1300" b="0" dirty="0">
                        <a:effectLst/>
                        <a:latin typeface="+mj-lt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4 x 4 x 5 x 128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369541"/>
                  </a:ext>
                </a:extLst>
              </a:tr>
              <a:tr h="26595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IN" sz="1300" b="1" dirty="0">
                          <a:effectLst/>
                        </a:rPr>
                        <a:t>Classifier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average pool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1 x 1 x 512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average pool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0" dirty="0">
                          <a:effectLst/>
                          <a:latin typeface="+mj-lt"/>
                        </a:rPr>
                        <a:t>1 x 1 x 1 x 128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060689"/>
                  </a:ext>
                </a:extLst>
              </a:tr>
              <a:tr h="2659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flatten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512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flatten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128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920785"/>
                  </a:ext>
                </a:extLst>
              </a:tr>
              <a:tr h="2659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linear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1000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linear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dirty="0"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8799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D48659-2013-FCF0-79C9-FE207BA98E12}"/>
              </a:ext>
            </a:extLst>
          </p:cNvPr>
          <p:cNvSpPr txBox="1"/>
          <p:nvPr/>
        </p:nvSpPr>
        <p:spPr>
          <a:xfrm>
            <a:off x="194304" y="1089064"/>
            <a:ext cx="712800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Main Modifications done for 3D-Resnet model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Kernel size, Stride &amp; Padding in the top layer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 number of channels in each block reduced by 1/4</a:t>
            </a:r>
            <a:r>
              <a:rPr lang="en-IN" baseline="30000" dirty="0"/>
              <a:t>th</a:t>
            </a:r>
            <a:r>
              <a:rPr lang="en-IN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5753F-DDF5-B8D6-1154-7265E180D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344" y="1184600"/>
            <a:ext cx="1279820" cy="52707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B6DEE-5A9C-5944-FBBC-30623231D7AD}"/>
              </a:ext>
            </a:extLst>
          </p:cNvPr>
          <p:cNvSpPr txBox="1"/>
          <p:nvPr/>
        </p:nvSpPr>
        <p:spPr>
          <a:xfrm>
            <a:off x="7750232" y="950565"/>
            <a:ext cx="2123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/>
              <a:t>2D Resnet-34</a:t>
            </a:r>
            <a:endParaRPr lang="en-IN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8F99C-4C7C-8FE1-2BC0-C93FD0BE4A1B}"/>
              </a:ext>
            </a:extLst>
          </p:cNvPr>
          <p:cNvSpPr txBox="1"/>
          <p:nvPr/>
        </p:nvSpPr>
        <p:spPr>
          <a:xfrm>
            <a:off x="2640328" y="6604210"/>
            <a:ext cx="323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14 – The 3D-ResNet Architecture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873976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4F65-46EE-44F7-126E-F18D89F4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of 3D-Resnet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0364AB-3C8C-9C64-44D7-9D6361CEFD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4192023"/>
              </p:ext>
            </p:extLst>
          </p:nvPr>
        </p:nvGraphicFramePr>
        <p:xfrm>
          <a:off x="330782" y="1063166"/>
          <a:ext cx="8499001" cy="1050890"/>
        </p:xfrm>
        <a:graphic>
          <a:graphicData uri="http://schemas.openxmlformats.org/drawingml/2006/table">
            <a:tbl>
              <a:tblPr/>
              <a:tblGrid>
                <a:gridCol w="1225065">
                  <a:extLst>
                    <a:ext uri="{9D8B030D-6E8A-4147-A177-3AD203B41FA5}">
                      <a16:colId xmlns:a16="http://schemas.microsoft.com/office/drawing/2014/main" val="2609136622"/>
                    </a:ext>
                  </a:extLst>
                </a:gridCol>
                <a:gridCol w="1037228">
                  <a:extLst>
                    <a:ext uri="{9D8B030D-6E8A-4147-A177-3AD203B41FA5}">
                      <a16:colId xmlns:a16="http://schemas.microsoft.com/office/drawing/2014/main" val="1211625757"/>
                    </a:ext>
                  </a:extLst>
                </a:gridCol>
                <a:gridCol w="1160062">
                  <a:extLst>
                    <a:ext uri="{9D8B030D-6E8A-4147-A177-3AD203B41FA5}">
                      <a16:colId xmlns:a16="http://schemas.microsoft.com/office/drawing/2014/main" val="7740805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73811646"/>
                    </a:ext>
                  </a:extLst>
                </a:gridCol>
                <a:gridCol w="1187353">
                  <a:extLst>
                    <a:ext uri="{9D8B030D-6E8A-4147-A177-3AD203B41FA5}">
                      <a16:colId xmlns:a16="http://schemas.microsoft.com/office/drawing/2014/main" val="82593434"/>
                    </a:ext>
                  </a:extLst>
                </a:gridCol>
                <a:gridCol w="1419369">
                  <a:extLst>
                    <a:ext uri="{9D8B030D-6E8A-4147-A177-3AD203B41FA5}">
                      <a16:colId xmlns:a16="http://schemas.microsoft.com/office/drawing/2014/main" val="1539998192"/>
                    </a:ext>
                  </a:extLst>
                </a:gridCol>
                <a:gridCol w="691723">
                  <a:extLst>
                    <a:ext uri="{9D8B030D-6E8A-4147-A177-3AD203B41FA5}">
                      <a16:colId xmlns:a16="http://schemas.microsoft.com/office/drawing/2014/main" val="2937131468"/>
                    </a:ext>
                  </a:extLst>
                </a:gridCol>
                <a:gridCol w="863801">
                  <a:extLst>
                    <a:ext uri="{9D8B030D-6E8A-4147-A177-3AD203B41FA5}">
                      <a16:colId xmlns:a16="http://schemas.microsoft.com/office/drawing/2014/main" val="268874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Model Name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Batch Size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No. of parameters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Optimizer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Initial learning rate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LR Scheduler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Weight decay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Early Stopping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35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3D ResNet</a:t>
                      </a:r>
                    </a:p>
                  </a:txBody>
                  <a:tcPr marL="28072" marR="28072" marT="18715" marB="18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64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~ 4M (~ 21.8 M in 2D)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sgd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0.001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ReduceLROnPlateau (0.1, p5*)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dirty="0">
                          <a:effectLst/>
                        </a:rPr>
                        <a:t>Yes (p10*)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359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7EF3A2-FC95-32B0-D67B-15B2E7BEF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00473"/>
              </p:ext>
            </p:extLst>
          </p:nvPr>
        </p:nvGraphicFramePr>
        <p:xfrm>
          <a:off x="330782" y="2160337"/>
          <a:ext cx="8498998" cy="910740"/>
        </p:xfrm>
        <a:graphic>
          <a:graphicData uri="http://schemas.openxmlformats.org/drawingml/2006/table">
            <a:tbl>
              <a:tblPr/>
              <a:tblGrid>
                <a:gridCol w="829280">
                  <a:extLst>
                    <a:ext uri="{9D8B030D-6E8A-4147-A177-3AD203B41FA5}">
                      <a16:colId xmlns:a16="http://schemas.microsoft.com/office/drawing/2014/main" val="146182111"/>
                    </a:ext>
                  </a:extLst>
                </a:gridCol>
                <a:gridCol w="1251258">
                  <a:extLst>
                    <a:ext uri="{9D8B030D-6E8A-4147-A177-3AD203B41FA5}">
                      <a16:colId xmlns:a16="http://schemas.microsoft.com/office/drawing/2014/main" val="3747490733"/>
                    </a:ext>
                  </a:extLst>
                </a:gridCol>
                <a:gridCol w="1137098">
                  <a:extLst>
                    <a:ext uri="{9D8B030D-6E8A-4147-A177-3AD203B41FA5}">
                      <a16:colId xmlns:a16="http://schemas.microsoft.com/office/drawing/2014/main" val="1327553563"/>
                    </a:ext>
                  </a:extLst>
                </a:gridCol>
                <a:gridCol w="1120286">
                  <a:extLst>
                    <a:ext uri="{9D8B030D-6E8A-4147-A177-3AD203B41FA5}">
                      <a16:colId xmlns:a16="http://schemas.microsoft.com/office/drawing/2014/main" val="3625739343"/>
                    </a:ext>
                  </a:extLst>
                </a:gridCol>
                <a:gridCol w="1404550">
                  <a:extLst>
                    <a:ext uri="{9D8B030D-6E8A-4147-A177-3AD203B41FA5}">
                      <a16:colId xmlns:a16="http://schemas.microsoft.com/office/drawing/2014/main" val="1890569882"/>
                    </a:ext>
                  </a:extLst>
                </a:gridCol>
                <a:gridCol w="832513">
                  <a:extLst>
                    <a:ext uri="{9D8B030D-6E8A-4147-A177-3AD203B41FA5}">
                      <a16:colId xmlns:a16="http://schemas.microsoft.com/office/drawing/2014/main" val="44705761"/>
                    </a:ext>
                  </a:extLst>
                </a:gridCol>
                <a:gridCol w="982639">
                  <a:extLst>
                    <a:ext uri="{9D8B030D-6E8A-4147-A177-3AD203B41FA5}">
                      <a16:colId xmlns:a16="http://schemas.microsoft.com/office/drawing/2014/main" val="1510591978"/>
                    </a:ext>
                  </a:extLst>
                </a:gridCol>
                <a:gridCol w="941374">
                  <a:extLst>
                    <a:ext uri="{9D8B030D-6E8A-4147-A177-3AD203B41FA5}">
                      <a16:colId xmlns:a16="http://schemas.microsoft.com/office/drawing/2014/main" val="40943314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Epochs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Time/Epoch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Memory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Training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Validation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Test acc.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Precision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600" b="1" dirty="0">
                          <a:effectLst/>
                        </a:rPr>
                        <a:t>Recall</a:t>
                      </a:r>
                    </a:p>
                  </a:txBody>
                  <a:tcPr marL="27012" marR="27012" marT="18008" marB="18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93591"/>
                  </a:ext>
                </a:extLst>
              </a:tr>
              <a:tr h="554643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54/100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180 sec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15875/16384 MiB*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0.999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0.967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0.985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dirty="0">
                          <a:effectLst/>
                        </a:rPr>
                        <a:t>0.98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1482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8C2FAB-225A-717A-C297-0D52A2509959}"/>
              </a:ext>
            </a:extLst>
          </p:cNvPr>
          <p:cNvSpPr txBox="1"/>
          <p:nvPr/>
        </p:nvSpPr>
        <p:spPr>
          <a:xfrm>
            <a:off x="3797228" y="3178630"/>
            <a:ext cx="2344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Learning Curves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5C8FD-D50E-229B-9409-F8663E53966A}"/>
              </a:ext>
            </a:extLst>
          </p:cNvPr>
          <p:cNvSpPr txBox="1"/>
          <p:nvPr/>
        </p:nvSpPr>
        <p:spPr>
          <a:xfrm>
            <a:off x="-13649" y="6612332"/>
            <a:ext cx="510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*p5/p10 – patience of 5/10 epochs, *MiB – Mebibyte (1,048,576 bytes)</a:t>
            </a:r>
          </a:p>
        </p:txBody>
      </p:sp>
      <p:pic>
        <p:nvPicPr>
          <p:cNvPr id="3" name="image17.png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91305804-D5CC-6D34-B82B-CD1740287CA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08000" y="3634125"/>
            <a:ext cx="3822654" cy="2531802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pic>
      <p:pic>
        <p:nvPicPr>
          <p:cNvPr id="5" name="image20.png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172A0E3A-C584-6BEA-C9C4-E7E915E5841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03186" y="3634125"/>
            <a:ext cx="3822654" cy="2531802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8C690C-8D77-9657-71A6-3BF7DFBF3064}"/>
              </a:ext>
            </a:extLst>
          </p:cNvPr>
          <p:cNvSpPr txBox="1"/>
          <p:nvPr/>
        </p:nvSpPr>
        <p:spPr>
          <a:xfrm>
            <a:off x="2712720" y="6238958"/>
            <a:ext cx="4084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15 – Learning Curves for 3D-ResNet model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484086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6340636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6514</TotalTime>
  <Words>2471</Words>
  <Application>Microsoft Macintosh PowerPoint</Application>
  <PresentationFormat>On-screen Show (4:3)</PresentationFormat>
  <Paragraphs>448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Franklin Gothic Demi</vt:lpstr>
      <vt:lpstr>Times New Roman</vt:lpstr>
      <vt:lpstr>IITR_PPT_Template</vt:lpstr>
      <vt:lpstr>Bulk Wheat Seeds Classification using Hyperspectral Imaging and 3D-CNN’s</vt:lpstr>
      <vt:lpstr>Index</vt:lpstr>
      <vt:lpstr>PowerPoint Presentation</vt:lpstr>
      <vt:lpstr>Introduction to Hyperspectral Images</vt:lpstr>
      <vt:lpstr>Problem Statement</vt:lpstr>
      <vt:lpstr>PowerPoint Presentation</vt:lpstr>
      <vt:lpstr>Dataset Overview</vt:lpstr>
      <vt:lpstr>Data Preparation </vt:lpstr>
      <vt:lpstr>Data Preparation </vt:lpstr>
      <vt:lpstr>Data Preparation </vt:lpstr>
      <vt:lpstr>Data Preparation </vt:lpstr>
      <vt:lpstr>Data Preparation </vt:lpstr>
      <vt:lpstr>PowerPoint Presentation</vt:lpstr>
      <vt:lpstr>Introduction to 3D CNN’s</vt:lpstr>
      <vt:lpstr>3D-ConvNeXt Model</vt:lpstr>
      <vt:lpstr>Results of 3D-ConvNeXt Model</vt:lpstr>
      <vt:lpstr>3D-DenseNet Model</vt:lpstr>
      <vt:lpstr>Results of 3D-DenseNet Model</vt:lpstr>
      <vt:lpstr>3D-Resnet Model</vt:lpstr>
      <vt:lpstr>Results of 3D-Resnet Model</vt:lpstr>
      <vt:lpstr>Thank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Shitiz Goel</cp:lastModifiedBy>
  <cp:revision>124</cp:revision>
  <dcterms:created xsi:type="dcterms:W3CDTF">2015-07-18T13:17:54Z</dcterms:created>
  <dcterms:modified xsi:type="dcterms:W3CDTF">2026-05-01T05:13:09Z</dcterms:modified>
  <cp:version>v1</cp:version>
</cp:coreProperties>
</file>